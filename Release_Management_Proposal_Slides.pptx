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affirming the design. The team should not feel this is a rejection — it is a strengthening pass. Then walk items 1 to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the question: aren't our tags already immutable by policy? Answer: policy is not enforcement, and digest costs nothing to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Lifecycle state is cheap to add and immediately useful operationally. The diff is the item most likely to be appreciated by people outside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wave definition itself is a team decision: how many waves, which sites are pilots, and who authorises a wave to open. Worth agreeing in the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Items 1 and 2 are the ones that need a decision from outside the team. The rest can be settled among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320040"/>
            <a:ext cx="11091672" cy="502920"/>
          </a:xfrm>
          <a:prstGeom prst="rect">
            <a:avLst/>
          </a:prstGeom>
          <a:noFill/>
          <a:ln/>
        </p:spPr>
        <p:txBody>
          <a:bodyPr wrap="square" lIns="0" tIns="0" rIns="0" bIns="0" rtlCol="0" anchor="ctr"/>
          <a:lstStyle/>
          <a:p>
            <a:pPr indent="0" marL="0">
              <a:buNone/>
            </a:pPr>
            <a:r>
              <a:rPr lang="en-US" sz="3000" b="1" dirty="0">
                <a:solidFill>
                  <a:srgbClr val="1F3A68"/>
                </a:solidFill>
                <a:latin typeface="Arial" pitchFamily="34" charset="0"/>
                <a:ea typeface="Arial" pitchFamily="34" charset="-122"/>
                <a:cs typeface="Arial" pitchFamily="34" charset="-120"/>
              </a:rPr>
              <a:t>Release Management &amp; Tracking</a:t>
            </a:r>
            <a:endParaRPr lang="en-US" sz="3000" dirty="0"/>
          </a:p>
        </p:txBody>
      </p:sp>
      <p:sp>
        <p:nvSpPr>
          <p:cNvPr id="3" name="Text 1"/>
          <p:cNvSpPr/>
          <p:nvPr/>
        </p:nvSpPr>
        <p:spPr>
          <a:xfrm>
            <a:off x="548640" y="868680"/>
            <a:ext cx="11091672" cy="320040"/>
          </a:xfrm>
          <a:prstGeom prst="rect">
            <a:avLst/>
          </a:prstGeom>
          <a:noFill/>
          <a:ln/>
        </p:spPr>
        <p:txBody>
          <a:bodyPr wrap="square" lIns="0" tIns="0" rIns="0" bIns="0" rtlCol="0" anchor="ctr"/>
          <a:lstStyle/>
          <a:p>
            <a:pPr indent="0" marL="0">
              <a:buNone/>
            </a:pPr>
            <a:r>
              <a:rPr lang="en-US" sz="1400" i="1" dirty="0">
                <a:solidFill>
                  <a:srgbClr val="5A6470"/>
                </a:solidFill>
                <a:latin typeface="Arial" pitchFamily="34" charset="0"/>
                <a:ea typeface="Arial" pitchFamily="34" charset="-122"/>
                <a:cs typeface="Arial" pitchFamily="34" charset="-120"/>
              </a:rPr>
              <a:t>Proposed improvements to the release design — for team discussion</a:t>
            </a:r>
            <a:endParaRPr lang="en-US" sz="1400" dirty="0"/>
          </a:p>
        </p:txBody>
      </p:sp>
      <p:sp>
        <p:nvSpPr>
          <p:cNvPr id="4" name="Shape 2"/>
          <p:cNvSpPr/>
          <p:nvPr/>
        </p:nvSpPr>
        <p:spPr>
          <a:xfrm>
            <a:off x="548640" y="1371600"/>
            <a:ext cx="11091672" cy="1234440"/>
          </a:xfrm>
          <a:prstGeom prst="roundRect">
            <a:avLst>
              <a:gd name="adj" fmla="val 3704"/>
            </a:avLst>
          </a:prstGeom>
          <a:solidFill>
            <a:srgbClr val="E9F3EC"/>
          </a:solidFill>
          <a:ln w="19050">
            <a:solidFill>
              <a:srgbClr val="2E7D4F"/>
            </a:solidFill>
            <a:prstDash val="solid"/>
          </a:ln>
        </p:spPr>
      </p:sp>
      <p:sp>
        <p:nvSpPr>
          <p:cNvPr id="5" name="Text 3"/>
          <p:cNvSpPr/>
          <p:nvPr/>
        </p:nvSpPr>
        <p:spPr>
          <a:xfrm>
            <a:off x="777240" y="1508760"/>
            <a:ext cx="10607040" cy="292608"/>
          </a:xfrm>
          <a:prstGeom prst="rect">
            <a:avLst/>
          </a:prstGeom>
          <a:noFill/>
          <a:ln/>
        </p:spPr>
        <p:txBody>
          <a:bodyPr wrap="square" lIns="0" tIns="0" rIns="0" bIns="0" rtlCol="0" anchor="ctr"/>
          <a:lstStyle/>
          <a:p>
            <a:pPr indent="0" marL="0">
              <a:buNone/>
            </a:pPr>
            <a:r>
              <a:rPr lang="en-US" sz="1500" b="1" dirty="0">
                <a:solidFill>
                  <a:srgbClr val="2E7D4F"/>
                </a:solidFill>
                <a:latin typeface="Arial" pitchFamily="34" charset="0"/>
                <a:ea typeface="Arial" pitchFamily="34" charset="-122"/>
                <a:cs typeface="Arial" pitchFamily="34" charset="-120"/>
              </a:rPr>
              <a:t>The design is sound — these are refinements, not a rewrite</a:t>
            </a:r>
            <a:endParaRPr lang="en-US" sz="1500" dirty="0"/>
          </a:p>
        </p:txBody>
      </p:sp>
      <p:sp>
        <p:nvSpPr>
          <p:cNvPr id="6" name="Text 4"/>
          <p:cNvSpPr/>
          <p:nvPr/>
        </p:nvSpPr>
        <p:spPr>
          <a:xfrm>
            <a:off x="777240" y="1828800"/>
            <a:ext cx="10607040" cy="685800"/>
          </a:xfrm>
          <a:prstGeom prst="rect">
            <a:avLst/>
          </a:prstGeom>
          <a:noFill/>
          <a:ln/>
        </p:spPr>
        <p:txBody>
          <a:bodyPr wrap="square" lIns="0" tIns="0" rIns="0" bIns="0" rtlCol="0" anchor="ctr"/>
          <a:lstStyle/>
          <a:p>
            <a:pPr indent="0" marL="0">
              <a:buNone/>
            </a:pPr>
            <a:r>
              <a:rPr lang="en-US" sz="1250" dirty="0">
                <a:solidFill>
                  <a:srgbClr val="5A6470"/>
                </a:solidFill>
                <a:latin typeface="Arial" pitchFamily="34" charset="0"/>
                <a:ea typeface="Arial" pitchFamily="34" charset="-122"/>
                <a:cs typeface="Arial" pitchFamily="34" charset="-120"/>
              </a:rPr>
              <a:t>Three properties are worth keeping exactly as they are: the immutable product release manifest that answers “what is Converto 2026.09.1”; branch-per-site desired state with one atomic commit per deployment; and ArgoCD as the only actor holding cluster credentials.</a:t>
            </a:r>
            <a:endParaRPr lang="en-US" sz="1250" dirty="0"/>
          </a:p>
        </p:txBody>
      </p:sp>
      <p:sp>
        <p:nvSpPr>
          <p:cNvPr id="7" name="Text 5"/>
          <p:cNvSpPr/>
          <p:nvPr/>
        </p:nvSpPr>
        <p:spPr>
          <a:xfrm>
            <a:off x="548640" y="2788920"/>
            <a:ext cx="5486400" cy="320040"/>
          </a:xfrm>
          <a:prstGeom prst="rect">
            <a:avLst/>
          </a:prstGeom>
          <a:noFill/>
          <a:ln/>
        </p:spPr>
        <p:txBody>
          <a:bodyPr wrap="square" lIns="0" tIns="0" rIns="0" bIns="0" rtlCol="0" anchor="ctr"/>
          <a:lstStyle/>
          <a:p>
            <a:pPr indent="0" marL="0">
              <a:buNone/>
            </a:pPr>
            <a:r>
              <a:rPr lang="en-US" sz="1700" b="1" dirty="0">
                <a:solidFill>
                  <a:srgbClr val="1F3A68"/>
                </a:solidFill>
                <a:latin typeface="Arial" pitchFamily="34" charset="0"/>
                <a:ea typeface="Arial" pitchFamily="34" charset="-122"/>
                <a:cs typeface="Arial" pitchFamily="34" charset="-120"/>
              </a:rPr>
              <a:t>Eight proposed changes</a:t>
            </a:r>
            <a:endParaRPr lang="en-US" sz="1700" dirty="0"/>
          </a:p>
        </p:txBody>
      </p:sp>
      <p:sp>
        <p:nvSpPr>
          <p:cNvPr id="8" name="Shape 6"/>
          <p:cNvSpPr/>
          <p:nvPr/>
        </p:nvSpPr>
        <p:spPr>
          <a:xfrm>
            <a:off x="548640" y="3200400"/>
            <a:ext cx="2624328" cy="1188720"/>
          </a:xfrm>
          <a:prstGeom prst="roundRect">
            <a:avLst>
              <a:gd name="adj" fmla="val 3846"/>
            </a:avLst>
          </a:prstGeom>
          <a:solidFill>
            <a:srgbClr val="FFFFFF"/>
          </a:solidFill>
          <a:ln w="19050">
            <a:solidFill>
              <a:srgbClr val="D6B656"/>
            </a:solidFill>
            <a:prstDash val="solid"/>
          </a:ln>
        </p:spPr>
      </p:sp>
      <p:sp>
        <p:nvSpPr>
          <p:cNvPr id="9" name="Shape 7"/>
          <p:cNvSpPr/>
          <p:nvPr/>
        </p:nvSpPr>
        <p:spPr>
          <a:xfrm>
            <a:off x="685800" y="3337560"/>
            <a:ext cx="292608" cy="292608"/>
          </a:xfrm>
          <a:prstGeom prst="ellipse">
            <a:avLst/>
          </a:prstGeom>
          <a:solidFill>
            <a:srgbClr val="D6B656"/>
          </a:solidFill>
          <a:ln w="12700">
            <a:solidFill>
              <a:srgbClr val="D6B656"/>
            </a:solidFill>
            <a:prstDash val="solid"/>
          </a:ln>
        </p:spPr>
      </p:sp>
      <p:sp>
        <p:nvSpPr>
          <p:cNvPr id="10" name="Text 8"/>
          <p:cNvSpPr/>
          <p:nvPr/>
        </p:nvSpPr>
        <p:spPr>
          <a:xfrm>
            <a:off x="685800" y="33375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1" name="Text 9"/>
          <p:cNvSpPr/>
          <p:nvPr/>
        </p:nvSpPr>
        <p:spPr>
          <a:xfrm>
            <a:off x="1051560" y="3337560"/>
            <a:ext cx="2011680" cy="502920"/>
          </a:xfrm>
          <a:prstGeom prst="rect">
            <a:avLst/>
          </a:prstGeom>
          <a:noFill/>
          <a:ln/>
        </p:spPr>
        <p:txBody>
          <a:bodyPr wrap="square" lIns="0" tIns="0" rIns="0" bIns="0" rtlCol="0" anchor="ctr"/>
          <a:lstStyle/>
          <a:p>
            <a:pPr indent="0" marL="0">
              <a:buNone/>
            </a:pPr>
            <a:r>
              <a:rPr lang="en-US" sz="1250" b="1" dirty="0">
                <a:solidFill>
                  <a:srgbClr val="1F3A68"/>
                </a:solidFill>
                <a:latin typeface="Arial" pitchFamily="34" charset="0"/>
                <a:ea typeface="Arial" pitchFamily="34" charset="-122"/>
                <a:cs typeface="Arial" pitchFamily="34" charset="-120"/>
              </a:rPr>
              <a:t>Pin images by digest</a:t>
            </a:r>
            <a:endParaRPr lang="en-US" sz="1250" dirty="0"/>
          </a:p>
        </p:txBody>
      </p:sp>
      <p:sp>
        <p:nvSpPr>
          <p:cNvPr id="12" name="Text 10"/>
          <p:cNvSpPr/>
          <p:nvPr/>
        </p:nvSpPr>
        <p:spPr>
          <a:xfrm>
            <a:off x="685800" y="3950208"/>
            <a:ext cx="2377440" cy="320040"/>
          </a:xfrm>
          <a:prstGeom prst="rect">
            <a:avLst/>
          </a:prstGeom>
          <a:noFill/>
          <a:ln/>
        </p:spPr>
        <p:txBody>
          <a:bodyPr wrap="square" lIns="0" tIns="0" rIns="0" bIns="0" rtlCol="0" anchor="ctr"/>
          <a:lstStyle/>
          <a:p>
            <a:pPr indent="0" marL="0">
              <a:buNone/>
            </a:pPr>
            <a:r>
              <a:rPr lang="en-US" sz="1100" i="1" dirty="0">
                <a:solidFill>
                  <a:srgbClr val="5A6470"/>
                </a:solidFill>
                <a:latin typeface="Arial" pitchFamily="34" charset="0"/>
                <a:ea typeface="Arial" pitchFamily="34" charset="-122"/>
                <a:cs typeface="Arial" pitchFamily="34" charset="-120"/>
              </a:rPr>
              <a:t>reproducibility</a:t>
            </a:r>
            <a:endParaRPr lang="en-US" sz="1100" dirty="0"/>
          </a:p>
        </p:txBody>
      </p:sp>
      <p:sp>
        <p:nvSpPr>
          <p:cNvPr id="13" name="Shape 11"/>
          <p:cNvSpPr/>
          <p:nvPr/>
        </p:nvSpPr>
        <p:spPr>
          <a:xfrm>
            <a:off x="3355848" y="3200400"/>
            <a:ext cx="2624328" cy="1188720"/>
          </a:xfrm>
          <a:prstGeom prst="roundRect">
            <a:avLst>
              <a:gd name="adj" fmla="val 3846"/>
            </a:avLst>
          </a:prstGeom>
          <a:solidFill>
            <a:srgbClr val="FFFFFF"/>
          </a:solidFill>
          <a:ln w="19050">
            <a:solidFill>
              <a:srgbClr val="D6B656"/>
            </a:solidFill>
            <a:prstDash val="solid"/>
          </a:ln>
        </p:spPr>
      </p:sp>
      <p:sp>
        <p:nvSpPr>
          <p:cNvPr id="14" name="Shape 12"/>
          <p:cNvSpPr/>
          <p:nvPr/>
        </p:nvSpPr>
        <p:spPr>
          <a:xfrm>
            <a:off x="3493008" y="3337560"/>
            <a:ext cx="292608" cy="292608"/>
          </a:xfrm>
          <a:prstGeom prst="ellipse">
            <a:avLst/>
          </a:prstGeom>
          <a:solidFill>
            <a:srgbClr val="D6B656"/>
          </a:solidFill>
          <a:ln w="12700">
            <a:solidFill>
              <a:srgbClr val="D6B656"/>
            </a:solidFill>
            <a:prstDash val="solid"/>
          </a:ln>
        </p:spPr>
      </p:sp>
      <p:sp>
        <p:nvSpPr>
          <p:cNvPr id="15" name="Text 13"/>
          <p:cNvSpPr/>
          <p:nvPr/>
        </p:nvSpPr>
        <p:spPr>
          <a:xfrm>
            <a:off x="3493008" y="33375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4"/>
          <p:cNvSpPr/>
          <p:nvPr/>
        </p:nvSpPr>
        <p:spPr>
          <a:xfrm>
            <a:off x="3858768" y="3337560"/>
            <a:ext cx="2011680" cy="502920"/>
          </a:xfrm>
          <a:prstGeom prst="rect">
            <a:avLst/>
          </a:prstGeom>
          <a:noFill/>
          <a:ln/>
        </p:spPr>
        <p:txBody>
          <a:bodyPr wrap="square" lIns="0" tIns="0" rIns="0" bIns="0" rtlCol="0" anchor="ctr"/>
          <a:lstStyle/>
          <a:p>
            <a:pPr indent="0" marL="0">
              <a:buNone/>
            </a:pPr>
            <a:r>
              <a:rPr lang="en-US" sz="1250" b="1" dirty="0">
                <a:solidFill>
                  <a:srgbClr val="1F3A68"/>
                </a:solidFill>
                <a:latin typeface="Arial" pitchFamily="34" charset="0"/>
                <a:ea typeface="Arial" pitchFamily="34" charset="-122"/>
                <a:cs typeface="Arial" pitchFamily="34" charset="-120"/>
              </a:rPr>
              <a:t>Validate artifact integrity once</a:t>
            </a:r>
            <a:endParaRPr lang="en-US" sz="1250" dirty="0"/>
          </a:p>
        </p:txBody>
      </p:sp>
      <p:sp>
        <p:nvSpPr>
          <p:cNvPr id="17" name="Text 15"/>
          <p:cNvSpPr/>
          <p:nvPr/>
        </p:nvSpPr>
        <p:spPr>
          <a:xfrm>
            <a:off x="3493008" y="3950208"/>
            <a:ext cx="2377440" cy="320040"/>
          </a:xfrm>
          <a:prstGeom prst="rect">
            <a:avLst/>
          </a:prstGeom>
          <a:noFill/>
          <a:ln/>
        </p:spPr>
        <p:txBody>
          <a:bodyPr wrap="square" lIns="0" tIns="0" rIns="0" bIns="0" rtlCol="0" anchor="ctr"/>
          <a:lstStyle/>
          <a:p>
            <a:pPr indent="0" marL="0">
              <a:buNone/>
            </a:pPr>
            <a:r>
              <a:rPr lang="en-US" sz="1100" i="1" dirty="0">
                <a:solidFill>
                  <a:srgbClr val="5A6470"/>
                </a:solidFill>
                <a:latin typeface="Arial" pitchFamily="34" charset="0"/>
                <a:ea typeface="Arial" pitchFamily="34" charset="-122"/>
                <a:cs typeface="Arial" pitchFamily="34" charset="-120"/>
              </a:rPr>
              <a:t>at release creation</a:t>
            </a:r>
            <a:endParaRPr lang="en-US" sz="1100" dirty="0"/>
          </a:p>
        </p:txBody>
      </p:sp>
      <p:sp>
        <p:nvSpPr>
          <p:cNvPr id="18" name="Shape 16"/>
          <p:cNvSpPr/>
          <p:nvPr/>
        </p:nvSpPr>
        <p:spPr>
          <a:xfrm>
            <a:off x="6163056" y="3200400"/>
            <a:ext cx="2624328" cy="1188720"/>
          </a:xfrm>
          <a:prstGeom prst="roundRect">
            <a:avLst>
              <a:gd name="adj" fmla="val 3846"/>
            </a:avLst>
          </a:prstGeom>
          <a:solidFill>
            <a:srgbClr val="FFFFFF"/>
          </a:solidFill>
          <a:ln w="19050">
            <a:solidFill>
              <a:srgbClr val="2E7D4F"/>
            </a:solidFill>
            <a:prstDash val="solid"/>
          </a:ln>
        </p:spPr>
      </p:sp>
      <p:sp>
        <p:nvSpPr>
          <p:cNvPr id="19" name="Shape 17"/>
          <p:cNvSpPr/>
          <p:nvPr/>
        </p:nvSpPr>
        <p:spPr>
          <a:xfrm>
            <a:off x="6300216" y="3337560"/>
            <a:ext cx="292608" cy="292608"/>
          </a:xfrm>
          <a:prstGeom prst="ellipse">
            <a:avLst/>
          </a:prstGeom>
          <a:solidFill>
            <a:srgbClr val="2E7D4F"/>
          </a:solidFill>
          <a:ln w="12700">
            <a:solidFill>
              <a:srgbClr val="2E7D4F"/>
            </a:solidFill>
            <a:prstDash val="solid"/>
          </a:ln>
        </p:spPr>
      </p:sp>
      <p:sp>
        <p:nvSpPr>
          <p:cNvPr id="20" name="Text 18"/>
          <p:cNvSpPr/>
          <p:nvPr/>
        </p:nvSpPr>
        <p:spPr>
          <a:xfrm>
            <a:off x="6300216" y="33375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1" name="Text 19"/>
          <p:cNvSpPr/>
          <p:nvPr/>
        </p:nvSpPr>
        <p:spPr>
          <a:xfrm>
            <a:off x="6665976" y="3337560"/>
            <a:ext cx="2011680" cy="502920"/>
          </a:xfrm>
          <a:prstGeom prst="rect">
            <a:avLst/>
          </a:prstGeom>
          <a:noFill/>
          <a:ln/>
        </p:spPr>
        <p:txBody>
          <a:bodyPr wrap="square" lIns="0" tIns="0" rIns="0" bIns="0" rtlCol="0" anchor="ctr"/>
          <a:lstStyle/>
          <a:p>
            <a:pPr indent="0" marL="0">
              <a:buNone/>
            </a:pPr>
            <a:r>
              <a:rPr lang="en-US" sz="1250" b="1" dirty="0">
                <a:solidFill>
                  <a:srgbClr val="1F3A68"/>
                </a:solidFill>
                <a:latin typeface="Arial" pitchFamily="34" charset="0"/>
                <a:ea typeface="Arial" pitchFamily="34" charset="-122"/>
                <a:cs typeface="Arial" pitchFamily="34" charset="-120"/>
              </a:rPr>
              <a:t>Release lifecycle states</a:t>
            </a:r>
            <a:endParaRPr lang="en-US" sz="1250" dirty="0"/>
          </a:p>
        </p:txBody>
      </p:sp>
      <p:sp>
        <p:nvSpPr>
          <p:cNvPr id="22" name="Text 20"/>
          <p:cNvSpPr/>
          <p:nvPr/>
        </p:nvSpPr>
        <p:spPr>
          <a:xfrm>
            <a:off x="6300216" y="3950208"/>
            <a:ext cx="2377440" cy="320040"/>
          </a:xfrm>
          <a:prstGeom prst="rect">
            <a:avLst/>
          </a:prstGeom>
          <a:noFill/>
          <a:ln/>
        </p:spPr>
        <p:txBody>
          <a:bodyPr wrap="square" lIns="0" tIns="0" rIns="0" bIns="0" rtlCol="0" anchor="ctr"/>
          <a:lstStyle/>
          <a:p>
            <a:pPr indent="0" marL="0">
              <a:buNone/>
            </a:pPr>
            <a:r>
              <a:rPr lang="en-US" sz="1100" i="1" dirty="0">
                <a:solidFill>
                  <a:srgbClr val="5A6470"/>
                </a:solidFill>
                <a:latin typeface="Arial" pitchFamily="34" charset="0"/>
                <a:ea typeface="Arial" pitchFamily="34" charset="-122"/>
                <a:cs typeface="Arial" pitchFamily="34" charset="-120"/>
              </a:rPr>
              <a:t>know what is deployable</a:t>
            </a:r>
            <a:endParaRPr lang="en-US" sz="1100" dirty="0"/>
          </a:p>
        </p:txBody>
      </p:sp>
      <p:sp>
        <p:nvSpPr>
          <p:cNvPr id="23" name="Shape 21"/>
          <p:cNvSpPr/>
          <p:nvPr/>
        </p:nvSpPr>
        <p:spPr>
          <a:xfrm>
            <a:off x="8970264" y="3200400"/>
            <a:ext cx="2624328" cy="1188720"/>
          </a:xfrm>
          <a:prstGeom prst="roundRect">
            <a:avLst>
              <a:gd name="adj" fmla="val 3846"/>
            </a:avLst>
          </a:prstGeom>
          <a:solidFill>
            <a:srgbClr val="FFFFFF"/>
          </a:solidFill>
          <a:ln w="19050">
            <a:solidFill>
              <a:srgbClr val="2E7D4F"/>
            </a:solidFill>
            <a:prstDash val="solid"/>
          </a:ln>
        </p:spPr>
      </p:sp>
      <p:sp>
        <p:nvSpPr>
          <p:cNvPr id="24" name="Shape 22"/>
          <p:cNvSpPr/>
          <p:nvPr/>
        </p:nvSpPr>
        <p:spPr>
          <a:xfrm>
            <a:off x="9107424" y="3337560"/>
            <a:ext cx="292608" cy="292608"/>
          </a:xfrm>
          <a:prstGeom prst="ellipse">
            <a:avLst/>
          </a:prstGeom>
          <a:solidFill>
            <a:srgbClr val="2E7D4F"/>
          </a:solidFill>
          <a:ln w="12700">
            <a:solidFill>
              <a:srgbClr val="2E7D4F"/>
            </a:solidFill>
            <a:prstDash val="solid"/>
          </a:ln>
        </p:spPr>
      </p:sp>
      <p:sp>
        <p:nvSpPr>
          <p:cNvPr id="25" name="Text 23"/>
          <p:cNvSpPr/>
          <p:nvPr/>
        </p:nvSpPr>
        <p:spPr>
          <a:xfrm>
            <a:off x="9107424" y="33375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6" name="Text 24"/>
          <p:cNvSpPr/>
          <p:nvPr/>
        </p:nvSpPr>
        <p:spPr>
          <a:xfrm>
            <a:off x="9473184" y="3337560"/>
            <a:ext cx="2011680" cy="502920"/>
          </a:xfrm>
          <a:prstGeom prst="rect">
            <a:avLst/>
          </a:prstGeom>
          <a:noFill/>
          <a:ln/>
        </p:spPr>
        <p:txBody>
          <a:bodyPr wrap="square" lIns="0" tIns="0" rIns="0" bIns="0" rtlCol="0" anchor="ctr"/>
          <a:lstStyle/>
          <a:p>
            <a:pPr indent="0" marL="0">
              <a:buNone/>
            </a:pPr>
            <a:r>
              <a:rPr lang="en-US" sz="1250" b="1" dirty="0">
                <a:solidFill>
                  <a:srgbClr val="1F3A68"/>
                </a:solidFill>
                <a:latin typeface="Arial" pitchFamily="34" charset="0"/>
                <a:ea typeface="Arial" pitchFamily="34" charset="-122"/>
                <a:cs typeface="Arial" pitchFamily="34" charset="-120"/>
              </a:rPr>
              <a:t>Composition diff &amp; release notes</a:t>
            </a:r>
            <a:endParaRPr lang="en-US" sz="1250" dirty="0"/>
          </a:p>
        </p:txBody>
      </p:sp>
      <p:sp>
        <p:nvSpPr>
          <p:cNvPr id="27" name="Text 25"/>
          <p:cNvSpPr/>
          <p:nvPr/>
        </p:nvSpPr>
        <p:spPr>
          <a:xfrm>
            <a:off x="9107424" y="3950208"/>
            <a:ext cx="2377440" cy="320040"/>
          </a:xfrm>
          <a:prstGeom prst="rect">
            <a:avLst/>
          </a:prstGeom>
          <a:noFill/>
          <a:ln/>
        </p:spPr>
        <p:txBody>
          <a:bodyPr wrap="square" lIns="0" tIns="0" rIns="0" bIns="0" rtlCol="0" anchor="ctr"/>
          <a:lstStyle/>
          <a:p>
            <a:pPr indent="0" marL="0">
              <a:buNone/>
            </a:pPr>
            <a:r>
              <a:rPr lang="en-US" sz="1100" i="1" dirty="0">
                <a:solidFill>
                  <a:srgbClr val="5A6470"/>
                </a:solidFill>
                <a:latin typeface="Arial" pitchFamily="34" charset="0"/>
                <a:ea typeface="Arial" pitchFamily="34" charset="-122"/>
                <a:cs typeface="Arial" pitchFamily="34" charset="-120"/>
              </a:rPr>
              <a:t>know what changed</a:t>
            </a:r>
            <a:endParaRPr lang="en-US" sz="1100" dirty="0"/>
          </a:p>
        </p:txBody>
      </p:sp>
      <p:sp>
        <p:nvSpPr>
          <p:cNvPr id="28" name="Shape 26"/>
          <p:cNvSpPr/>
          <p:nvPr/>
        </p:nvSpPr>
        <p:spPr>
          <a:xfrm>
            <a:off x="548640" y="4572000"/>
            <a:ext cx="2624328" cy="1188720"/>
          </a:xfrm>
          <a:prstGeom prst="roundRect">
            <a:avLst>
              <a:gd name="adj" fmla="val 3846"/>
            </a:avLst>
          </a:prstGeom>
          <a:solidFill>
            <a:srgbClr val="FFFFFF"/>
          </a:solidFill>
          <a:ln w="19050">
            <a:solidFill>
              <a:srgbClr val="2E7D4F"/>
            </a:solidFill>
            <a:prstDash val="solid"/>
          </a:ln>
        </p:spPr>
      </p:sp>
      <p:sp>
        <p:nvSpPr>
          <p:cNvPr id="29" name="Shape 27"/>
          <p:cNvSpPr/>
          <p:nvPr/>
        </p:nvSpPr>
        <p:spPr>
          <a:xfrm>
            <a:off x="685800" y="4709160"/>
            <a:ext cx="292608" cy="292608"/>
          </a:xfrm>
          <a:prstGeom prst="ellipse">
            <a:avLst/>
          </a:prstGeom>
          <a:solidFill>
            <a:srgbClr val="2E7D4F"/>
          </a:solidFill>
          <a:ln w="12700">
            <a:solidFill>
              <a:srgbClr val="2E7D4F"/>
            </a:solidFill>
            <a:prstDash val="solid"/>
          </a:ln>
        </p:spPr>
      </p:sp>
      <p:sp>
        <p:nvSpPr>
          <p:cNvPr id="30" name="Text 28"/>
          <p:cNvSpPr/>
          <p:nvPr/>
        </p:nvSpPr>
        <p:spPr>
          <a:xfrm>
            <a:off x="685800" y="47091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1" name="Text 29"/>
          <p:cNvSpPr/>
          <p:nvPr/>
        </p:nvSpPr>
        <p:spPr>
          <a:xfrm>
            <a:off x="1051560" y="4709160"/>
            <a:ext cx="2011680" cy="502920"/>
          </a:xfrm>
          <a:prstGeom prst="rect">
            <a:avLst/>
          </a:prstGeom>
          <a:noFill/>
          <a:ln/>
        </p:spPr>
        <p:txBody>
          <a:bodyPr wrap="square" lIns="0" tIns="0" rIns="0" bIns="0" rtlCol="0" anchor="ctr"/>
          <a:lstStyle/>
          <a:p>
            <a:pPr indent="0" marL="0">
              <a:buNone/>
            </a:pPr>
            <a:r>
              <a:rPr lang="en-US" sz="1250" b="1" dirty="0">
                <a:solidFill>
                  <a:srgbClr val="1F3A68"/>
                </a:solidFill>
                <a:latin typeface="Arial" pitchFamily="34" charset="0"/>
                <a:ea typeface="Arial" pitchFamily="34" charset="-122"/>
                <a:cs typeface="Arial" pitchFamily="34" charset="-120"/>
              </a:rPr>
              <a:t>Staged rollout waves</a:t>
            </a:r>
            <a:endParaRPr lang="en-US" sz="1250" dirty="0"/>
          </a:p>
        </p:txBody>
      </p:sp>
      <p:sp>
        <p:nvSpPr>
          <p:cNvPr id="32" name="Text 30"/>
          <p:cNvSpPr/>
          <p:nvPr/>
        </p:nvSpPr>
        <p:spPr>
          <a:xfrm>
            <a:off x="685800" y="5321808"/>
            <a:ext cx="2377440" cy="320040"/>
          </a:xfrm>
          <a:prstGeom prst="rect">
            <a:avLst/>
          </a:prstGeom>
          <a:noFill/>
          <a:ln/>
        </p:spPr>
        <p:txBody>
          <a:bodyPr wrap="square" lIns="0" tIns="0" rIns="0" bIns="0" rtlCol="0" anchor="ctr"/>
          <a:lstStyle/>
          <a:p>
            <a:pPr indent="0" marL="0">
              <a:buNone/>
            </a:pPr>
            <a:r>
              <a:rPr lang="en-US" sz="1100" i="1" dirty="0">
                <a:solidFill>
                  <a:srgbClr val="5A6470"/>
                </a:solidFill>
                <a:latin typeface="Arial" pitchFamily="34" charset="0"/>
                <a:ea typeface="Arial" pitchFamily="34" charset="-122"/>
                <a:cs typeface="Arial" pitchFamily="34" charset="-120"/>
              </a:rPr>
              <a:t>bound the blast radius</a:t>
            </a:r>
            <a:endParaRPr lang="en-US" sz="1100" dirty="0"/>
          </a:p>
        </p:txBody>
      </p:sp>
      <p:sp>
        <p:nvSpPr>
          <p:cNvPr id="33" name="Shape 31"/>
          <p:cNvSpPr/>
          <p:nvPr/>
        </p:nvSpPr>
        <p:spPr>
          <a:xfrm>
            <a:off x="3355848" y="4572000"/>
            <a:ext cx="2624328" cy="1188720"/>
          </a:xfrm>
          <a:prstGeom prst="roundRect">
            <a:avLst>
              <a:gd name="adj" fmla="val 3846"/>
            </a:avLst>
          </a:prstGeom>
          <a:solidFill>
            <a:srgbClr val="FFFFFF"/>
          </a:solidFill>
          <a:ln w="19050">
            <a:solidFill>
              <a:srgbClr val="D6B656"/>
            </a:solidFill>
            <a:prstDash val="solid"/>
          </a:ln>
        </p:spPr>
      </p:sp>
      <p:sp>
        <p:nvSpPr>
          <p:cNvPr id="34" name="Shape 32"/>
          <p:cNvSpPr/>
          <p:nvPr/>
        </p:nvSpPr>
        <p:spPr>
          <a:xfrm>
            <a:off x="3493008" y="4709160"/>
            <a:ext cx="292608" cy="292608"/>
          </a:xfrm>
          <a:prstGeom prst="ellipse">
            <a:avLst/>
          </a:prstGeom>
          <a:solidFill>
            <a:srgbClr val="D6B656"/>
          </a:solidFill>
          <a:ln w="12700">
            <a:solidFill>
              <a:srgbClr val="D6B656"/>
            </a:solidFill>
            <a:prstDash val="solid"/>
          </a:ln>
        </p:spPr>
      </p:sp>
      <p:sp>
        <p:nvSpPr>
          <p:cNvPr id="35" name="Text 33"/>
          <p:cNvSpPr/>
          <p:nvPr/>
        </p:nvSpPr>
        <p:spPr>
          <a:xfrm>
            <a:off x="3493008" y="47091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36" name="Text 34"/>
          <p:cNvSpPr/>
          <p:nvPr/>
        </p:nvSpPr>
        <p:spPr>
          <a:xfrm>
            <a:off x="3858768" y="4709160"/>
            <a:ext cx="2011680" cy="502920"/>
          </a:xfrm>
          <a:prstGeom prst="rect">
            <a:avLst/>
          </a:prstGeom>
          <a:noFill/>
          <a:ln/>
        </p:spPr>
        <p:txBody>
          <a:bodyPr wrap="square" lIns="0" tIns="0" rIns="0" bIns="0" rtlCol="0" anchor="ctr"/>
          <a:lstStyle/>
          <a:p>
            <a:pPr indent="0" marL="0">
              <a:buNone/>
            </a:pPr>
            <a:r>
              <a:rPr lang="en-US" sz="1250" b="1" dirty="0">
                <a:solidFill>
                  <a:srgbClr val="1F3A68"/>
                </a:solidFill>
                <a:latin typeface="Arial" pitchFamily="34" charset="0"/>
                <a:ea typeface="Arial" pitchFamily="34" charset="-122"/>
                <a:cs typeface="Arial" pitchFamily="34" charset="-120"/>
              </a:rPr>
              <a:t>Protected site branches</a:t>
            </a:r>
            <a:endParaRPr lang="en-US" sz="1250" dirty="0"/>
          </a:p>
        </p:txBody>
      </p:sp>
      <p:sp>
        <p:nvSpPr>
          <p:cNvPr id="37" name="Text 35"/>
          <p:cNvSpPr/>
          <p:nvPr/>
        </p:nvSpPr>
        <p:spPr>
          <a:xfrm>
            <a:off x="3493008" y="5321808"/>
            <a:ext cx="2377440" cy="320040"/>
          </a:xfrm>
          <a:prstGeom prst="rect">
            <a:avLst/>
          </a:prstGeom>
          <a:noFill/>
          <a:ln/>
        </p:spPr>
        <p:txBody>
          <a:bodyPr wrap="square" lIns="0" tIns="0" rIns="0" bIns="0" rtlCol="0" anchor="ctr"/>
          <a:lstStyle/>
          <a:p>
            <a:pPr indent="0" marL="0">
              <a:buNone/>
            </a:pPr>
            <a:r>
              <a:rPr lang="en-US" sz="1100" i="1" dirty="0">
                <a:solidFill>
                  <a:srgbClr val="5A6470"/>
                </a:solidFill>
                <a:latin typeface="Arial" pitchFamily="34" charset="0"/>
                <a:ea typeface="Arial" pitchFamily="34" charset="-122"/>
                <a:cs typeface="Arial" pitchFamily="34" charset="-120"/>
              </a:rPr>
              <a:t>trustworthy audit trail</a:t>
            </a:r>
            <a:endParaRPr lang="en-US" sz="1100" dirty="0"/>
          </a:p>
        </p:txBody>
      </p:sp>
      <p:sp>
        <p:nvSpPr>
          <p:cNvPr id="38" name="Shape 36"/>
          <p:cNvSpPr/>
          <p:nvPr/>
        </p:nvSpPr>
        <p:spPr>
          <a:xfrm>
            <a:off x="6163056" y="4572000"/>
            <a:ext cx="2624328" cy="1188720"/>
          </a:xfrm>
          <a:prstGeom prst="roundRect">
            <a:avLst>
              <a:gd name="adj" fmla="val 3846"/>
            </a:avLst>
          </a:prstGeom>
          <a:solidFill>
            <a:srgbClr val="FFFFFF"/>
          </a:solidFill>
          <a:ln w="19050">
            <a:solidFill>
              <a:srgbClr val="2E7D4F"/>
            </a:solidFill>
            <a:prstDash val="solid"/>
          </a:ln>
        </p:spPr>
      </p:sp>
      <p:sp>
        <p:nvSpPr>
          <p:cNvPr id="39" name="Shape 37"/>
          <p:cNvSpPr/>
          <p:nvPr/>
        </p:nvSpPr>
        <p:spPr>
          <a:xfrm>
            <a:off x="6300216" y="4709160"/>
            <a:ext cx="292608" cy="292608"/>
          </a:xfrm>
          <a:prstGeom prst="ellipse">
            <a:avLst/>
          </a:prstGeom>
          <a:solidFill>
            <a:srgbClr val="2E7D4F"/>
          </a:solidFill>
          <a:ln w="12700">
            <a:solidFill>
              <a:srgbClr val="2E7D4F"/>
            </a:solidFill>
            <a:prstDash val="solid"/>
          </a:ln>
        </p:spPr>
      </p:sp>
      <p:sp>
        <p:nvSpPr>
          <p:cNvPr id="40" name="Text 38"/>
          <p:cNvSpPr/>
          <p:nvPr/>
        </p:nvSpPr>
        <p:spPr>
          <a:xfrm>
            <a:off x="6300216" y="47091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41" name="Text 39"/>
          <p:cNvSpPr/>
          <p:nvPr/>
        </p:nvSpPr>
        <p:spPr>
          <a:xfrm>
            <a:off x="6665976" y="4709160"/>
            <a:ext cx="2011680" cy="502920"/>
          </a:xfrm>
          <a:prstGeom prst="rect">
            <a:avLst/>
          </a:prstGeom>
          <a:noFill/>
          <a:ln/>
        </p:spPr>
        <p:txBody>
          <a:bodyPr wrap="square" lIns="0" tIns="0" rIns="0" bIns="0" rtlCol="0" anchor="ctr"/>
          <a:lstStyle/>
          <a:p>
            <a:pPr indent="0" marL="0">
              <a:buNone/>
            </a:pPr>
            <a:r>
              <a:rPr lang="en-US" sz="1250" b="1" dirty="0">
                <a:solidFill>
                  <a:srgbClr val="1F3A68"/>
                </a:solidFill>
                <a:latin typeface="Arial" pitchFamily="34" charset="0"/>
                <a:ea typeface="Arial" pitchFamily="34" charset="-122"/>
                <a:cs typeface="Arial" pitchFamily="34" charset="-120"/>
              </a:rPr>
              <a:t>Deployment preview</a:t>
            </a:r>
            <a:endParaRPr lang="en-US" sz="1250" dirty="0"/>
          </a:p>
        </p:txBody>
      </p:sp>
      <p:sp>
        <p:nvSpPr>
          <p:cNvPr id="42" name="Text 40"/>
          <p:cNvSpPr/>
          <p:nvPr/>
        </p:nvSpPr>
        <p:spPr>
          <a:xfrm>
            <a:off x="6300216" y="5321808"/>
            <a:ext cx="2377440" cy="320040"/>
          </a:xfrm>
          <a:prstGeom prst="rect">
            <a:avLst/>
          </a:prstGeom>
          <a:noFill/>
          <a:ln/>
        </p:spPr>
        <p:txBody>
          <a:bodyPr wrap="square" lIns="0" tIns="0" rIns="0" bIns="0" rtlCol="0" anchor="ctr"/>
          <a:lstStyle/>
          <a:p>
            <a:pPr indent="0" marL="0">
              <a:buNone/>
            </a:pPr>
            <a:r>
              <a:rPr lang="en-US" sz="1100" i="1" dirty="0">
                <a:solidFill>
                  <a:srgbClr val="5A6470"/>
                </a:solidFill>
                <a:latin typeface="Arial" pitchFamily="34" charset="0"/>
                <a:ea typeface="Arial" pitchFamily="34" charset="-122"/>
                <a:cs typeface="Arial" pitchFamily="34" charset="-120"/>
              </a:rPr>
              <a:t>see the diff before commit</a:t>
            </a:r>
            <a:endParaRPr lang="en-US" sz="1100" dirty="0"/>
          </a:p>
        </p:txBody>
      </p:sp>
      <p:sp>
        <p:nvSpPr>
          <p:cNvPr id="43" name="Shape 41"/>
          <p:cNvSpPr/>
          <p:nvPr/>
        </p:nvSpPr>
        <p:spPr>
          <a:xfrm>
            <a:off x="8970264" y="4572000"/>
            <a:ext cx="2624328" cy="1188720"/>
          </a:xfrm>
          <a:prstGeom prst="roundRect">
            <a:avLst>
              <a:gd name="adj" fmla="val 3846"/>
            </a:avLst>
          </a:prstGeom>
          <a:solidFill>
            <a:srgbClr val="FFFFFF"/>
          </a:solidFill>
          <a:ln w="19050">
            <a:solidFill>
              <a:srgbClr val="2E7D4F"/>
            </a:solidFill>
            <a:prstDash val="solid"/>
          </a:ln>
        </p:spPr>
      </p:sp>
      <p:sp>
        <p:nvSpPr>
          <p:cNvPr id="44" name="Shape 42"/>
          <p:cNvSpPr/>
          <p:nvPr/>
        </p:nvSpPr>
        <p:spPr>
          <a:xfrm>
            <a:off x="9107424" y="4709160"/>
            <a:ext cx="292608" cy="292608"/>
          </a:xfrm>
          <a:prstGeom prst="ellipse">
            <a:avLst/>
          </a:prstGeom>
          <a:solidFill>
            <a:srgbClr val="2E7D4F"/>
          </a:solidFill>
          <a:ln w="12700">
            <a:solidFill>
              <a:srgbClr val="2E7D4F"/>
            </a:solidFill>
            <a:prstDash val="solid"/>
          </a:ln>
        </p:spPr>
      </p:sp>
      <p:sp>
        <p:nvSpPr>
          <p:cNvPr id="45" name="Text 43"/>
          <p:cNvSpPr/>
          <p:nvPr/>
        </p:nvSpPr>
        <p:spPr>
          <a:xfrm>
            <a:off x="9107424" y="47091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
        <p:nvSpPr>
          <p:cNvPr id="46" name="Text 44"/>
          <p:cNvSpPr/>
          <p:nvPr/>
        </p:nvSpPr>
        <p:spPr>
          <a:xfrm>
            <a:off x="9473184" y="4709160"/>
            <a:ext cx="2011680" cy="502920"/>
          </a:xfrm>
          <a:prstGeom prst="rect">
            <a:avLst/>
          </a:prstGeom>
          <a:noFill/>
          <a:ln/>
        </p:spPr>
        <p:txBody>
          <a:bodyPr wrap="square" lIns="0" tIns="0" rIns="0" bIns="0" rtlCol="0" anchor="ctr"/>
          <a:lstStyle/>
          <a:p>
            <a:pPr indent="0" marL="0">
              <a:buNone/>
            </a:pPr>
            <a:r>
              <a:rPr lang="en-US" sz="1250" b="1" dirty="0">
                <a:solidFill>
                  <a:srgbClr val="1F3A68"/>
                </a:solidFill>
                <a:latin typeface="Arial" pitchFamily="34" charset="0"/>
                <a:ea typeface="Arial" pitchFamily="34" charset="-122"/>
                <a:cs typeface="Arial" pitchFamily="34" charset="-120"/>
              </a:rPr>
              <a:t>Convergence alerting</a:t>
            </a:r>
            <a:endParaRPr lang="en-US" sz="1250" dirty="0"/>
          </a:p>
        </p:txBody>
      </p:sp>
      <p:sp>
        <p:nvSpPr>
          <p:cNvPr id="47" name="Text 45"/>
          <p:cNvSpPr/>
          <p:nvPr/>
        </p:nvSpPr>
        <p:spPr>
          <a:xfrm>
            <a:off x="9107424" y="5321808"/>
            <a:ext cx="2377440" cy="320040"/>
          </a:xfrm>
          <a:prstGeom prst="rect">
            <a:avLst/>
          </a:prstGeom>
          <a:noFill/>
          <a:ln/>
        </p:spPr>
        <p:txBody>
          <a:bodyPr wrap="square" lIns="0" tIns="0" rIns="0" bIns="0" rtlCol="0" anchor="ctr"/>
          <a:lstStyle/>
          <a:p>
            <a:pPr indent="0" marL="0">
              <a:buNone/>
            </a:pPr>
            <a:r>
              <a:rPr lang="en-US" sz="1100" i="1" dirty="0">
                <a:solidFill>
                  <a:srgbClr val="5A6470"/>
                </a:solidFill>
                <a:latin typeface="Arial" pitchFamily="34" charset="0"/>
                <a:ea typeface="Arial" pitchFamily="34" charset="-122"/>
                <a:cs typeface="Arial" pitchFamily="34" charset="-120"/>
              </a:rPr>
              <a:t>escalate, don’t just display</a:t>
            </a:r>
            <a:endParaRPr lang="en-US" sz="1100" dirty="0"/>
          </a:p>
        </p:txBody>
      </p:sp>
      <p:sp>
        <p:nvSpPr>
          <p:cNvPr id="48" name="Text 46"/>
          <p:cNvSpPr/>
          <p:nvPr/>
        </p:nvSpPr>
        <p:spPr>
          <a:xfrm>
            <a:off x="548640" y="6080760"/>
            <a:ext cx="11091672" cy="320040"/>
          </a:xfrm>
          <a:prstGeom prst="rect">
            <a:avLst/>
          </a:prstGeom>
          <a:noFill/>
          <a:ln/>
        </p:spPr>
        <p:txBody>
          <a:bodyPr wrap="square" lIns="0" tIns="0" rIns="0" bIns="0" rtlCol="0" anchor="ctr"/>
          <a:lstStyle/>
          <a:p>
            <a:pPr indent="0" marL="0">
              <a:buNone/>
            </a:pPr>
            <a:r>
              <a:rPr lang="en-US" sz="1200" b="1" dirty="0">
                <a:solidFill>
                  <a:srgbClr val="1F3A68"/>
                </a:solidFill>
                <a:latin typeface="Arial" pitchFamily="34" charset="0"/>
                <a:ea typeface="Arial" pitchFamily="34" charset="-122"/>
                <a:cs typeface="Arial" pitchFamily="34" charset="-120"/>
              </a:rPr>
              <a:t>None of these change the shape of the flow. All are additive to what is already proposed.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20040"/>
            <a:ext cx="11091672" cy="502920"/>
          </a:xfrm>
          <a:prstGeom prst="rect">
            <a:avLst/>
          </a:prstGeom>
          <a:noFill/>
          <a:ln/>
        </p:spPr>
        <p:txBody>
          <a:bodyPr wrap="square" lIns="0" tIns="0" rIns="0" bIns="0" rtlCol="0" anchor="ctr"/>
          <a:lstStyle/>
          <a:p>
            <a:pPr indent="0" marL="0">
              <a:buNone/>
            </a:pPr>
            <a:r>
              <a:rPr lang="en-US" sz="3000" b="1" dirty="0">
                <a:solidFill>
                  <a:srgbClr val="1F3A68"/>
                </a:solidFill>
                <a:latin typeface="Arial" pitchFamily="34" charset="0"/>
                <a:ea typeface="Arial" pitchFamily="34" charset="-122"/>
                <a:cs typeface="Arial" pitchFamily="34" charset="-120"/>
              </a:rPr>
              <a:t>1.  Pin images by digest</a:t>
            </a:r>
            <a:endParaRPr lang="en-US" sz="3000" dirty="0"/>
          </a:p>
        </p:txBody>
      </p:sp>
      <p:sp>
        <p:nvSpPr>
          <p:cNvPr id="3" name="Text 1"/>
          <p:cNvSpPr/>
          <p:nvPr/>
        </p:nvSpPr>
        <p:spPr>
          <a:xfrm>
            <a:off x="548640" y="868680"/>
            <a:ext cx="11091672" cy="320040"/>
          </a:xfrm>
          <a:prstGeom prst="rect">
            <a:avLst/>
          </a:prstGeom>
          <a:noFill/>
          <a:ln/>
        </p:spPr>
        <p:txBody>
          <a:bodyPr wrap="square" lIns="0" tIns="0" rIns="0" bIns="0" rtlCol="0" anchor="ctr"/>
          <a:lstStyle/>
          <a:p>
            <a:pPr indent="0" marL="0">
              <a:buNone/>
            </a:pPr>
            <a:r>
              <a:rPr lang="en-US" sz="1400" i="1" dirty="0">
                <a:solidFill>
                  <a:srgbClr val="5A6470"/>
                </a:solidFill>
                <a:latin typeface="Arial" pitchFamily="34" charset="0"/>
                <a:ea typeface="Arial" pitchFamily="34" charset="-122"/>
                <a:cs typeface="Arial" pitchFamily="34" charset="-120"/>
              </a:rPr>
              <a:t>Make the image digest mandatory in the release manifest</a:t>
            </a:r>
            <a:endParaRPr lang="en-US" sz="1400" dirty="0"/>
          </a:p>
        </p:txBody>
      </p:sp>
      <p:sp>
        <p:nvSpPr>
          <p:cNvPr id="4" name="Shape 2"/>
          <p:cNvSpPr/>
          <p:nvPr/>
        </p:nvSpPr>
        <p:spPr>
          <a:xfrm>
            <a:off x="548640" y="1280160"/>
            <a:ext cx="960120" cy="274320"/>
          </a:xfrm>
          <a:prstGeom prst="roundRect">
            <a:avLst>
              <a:gd name="adj" fmla="val 33333"/>
            </a:avLst>
          </a:prstGeom>
          <a:solidFill>
            <a:srgbClr val="FFF2CC"/>
          </a:solidFill>
          <a:ln w="12700">
            <a:solidFill>
              <a:srgbClr val="D6B656"/>
            </a:solidFill>
            <a:prstDash val="solid"/>
          </a:ln>
        </p:spPr>
      </p:sp>
      <p:sp>
        <p:nvSpPr>
          <p:cNvPr id="5" name="Text 3"/>
          <p:cNvSpPr/>
          <p:nvPr/>
        </p:nvSpPr>
        <p:spPr>
          <a:xfrm>
            <a:off x="548640" y="1280160"/>
            <a:ext cx="960120" cy="274320"/>
          </a:xfrm>
          <a:prstGeom prst="rect">
            <a:avLst/>
          </a:prstGeom>
          <a:noFill/>
          <a:ln/>
        </p:spPr>
        <p:txBody>
          <a:bodyPr wrap="square" lIns="0" tIns="0" rIns="0" bIns="0" rtlCol="0" anchor="ctr"/>
          <a:lstStyle/>
          <a:p>
            <a:pPr algn="ctr" indent="0" marL="0">
              <a:buNone/>
            </a:pPr>
            <a:r>
              <a:rPr lang="en-US" sz="1000" b="1" dirty="0">
                <a:solidFill>
                  <a:srgbClr val="8A6D1F"/>
                </a:solidFill>
                <a:latin typeface="Arial" pitchFamily="34" charset="0"/>
                <a:ea typeface="Arial" pitchFamily="34" charset="-122"/>
                <a:cs typeface="Arial" pitchFamily="34" charset="-120"/>
              </a:rPr>
              <a:t>CHANGED</a:t>
            </a:r>
            <a:endParaRPr lang="en-US" sz="1000" dirty="0"/>
          </a:p>
        </p:txBody>
      </p:sp>
      <p:sp>
        <p:nvSpPr>
          <p:cNvPr id="6" name="Text 4"/>
          <p:cNvSpPr/>
          <p:nvPr/>
        </p:nvSpPr>
        <p:spPr>
          <a:xfrm>
            <a:off x="1645920" y="1280160"/>
            <a:ext cx="3657600" cy="274320"/>
          </a:xfrm>
          <a:prstGeom prst="rect">
            <a:avLst/>
          </a:prstGeom>
          <a:noFill/>
          <a:ln/>
        </p:spPr>
        <p:txBody>
          <a:bodyPr wrap="square" lIns="0" tIns="0" rIns="0" bIns="0" rtlCol="0" anchor="ctr"/>
          <a:lstStyle/>
          <a:p>
            <a:pPr indent="0" marL="0">
              <a:buNone/>
            </a:pPr>
            <a:r>
              <a:rPr lang="en-US" sz="1100" dirty="0">
                <a:solidFill>
                  <a:srgbClr val="5A6470"/>
                </a:solidFill>
                <a:latin typeface="Arial" pitchFamily="34" charset="0"/>
                <a:ea typeface="Arial" pitchFamily="34" charset="-122"/>
                <a:cs typeface="Arial" pitchFamily="34" charset="-120"/>
              </a:rPr>
              <a:t>Lane 1 &amp; 2</a:t>
            </a:r>
            <a:endParaRPr lang="en-US" sz="1100" dirty="0"/>
          </a:p>
        </p:txBody>
      </p:sp>
      <p:sp>
        <p:nvSpPr>
          <p:cNvPr id="7" name="Shape 5"/>
          <p:cNvSpPr/>
          <p:nvPr/>
        </p:nvSpPr>
        <p:spPr>
          <a:xfrm>
            <a:off x="548640" y="1783080"/>
            <a:ext cx="11091672" cy="1234440"/>
          </a:xfrm>
          <a:prstGeom prst="roundRect">
            <a:avLst>
              <a:gd name="adj" fmla="val 3704"/>
            </a:avLst>
          </a:prstGeom>
          <a:solidFill>
            <a:srgbClr val="FBEAE7"/>
          </a:solidFill>
          <a:ln w="19050">
            <a:solidFill>
              <a:srgbClr val="C0392B"/>
            </a:solidFill>
            <a:prstDash val="solid"/>
          </a:ln>
        </p:spPr>
      </p:sp>
      <p:sp>
        <p:nvSpPr>
          <p:cNvPr id="8" name="Text 6"/>
          <p:cNvSpPr/>
          <p:nvPr/>
        </p:nvSpPr>
        <p:spPr>
          <a:xfrm>
            <a:off x="777240" y="1892808"/>
            <a:ext cx="2011680" cy="274320"/>
          </a:xfrm>
          <a:prstGeom prst="rect">
            <a:avLst/>
          </a:prstGeom>
          <a:noFill/>
          <a:ln/>
        </p:spPr>
        <p:txBody>
          <a:bodyPr wrap="square" lIns="0" tIns="0" rIns="0" bIns="0" rtlCol="0" anchor="ctr"/>
          <a:lstStyle/>
          <a:p>
            <a:pPr indent="0" marL="0">
              <a:buNone/>
            </a:pPr>
            <a:r>
              <a:rPr lang="en-US" sz="1300" b="1" dirty="0">
                <a:solidFill>
                  <a:srgbClr val="C0392B"/>
                </a:solidFill>
                <a:latin typeface="Arial" pitchFamily="34" charset="0"/>
                <a:ea typeface="Arial" pitchFamily="34" charset="-122"/>
                <a:cs typeface="Arial" pitchFamily="34" charset="-120"/>
              </a:rPr>
              <a:t>Today</a:t>
            </a:r>
            <a:endParaRPr lang="en-US" sz="1300" dirty="0"/>
          </a:p>
        </p:txBody>
      </p:sp>
      <p:sp>
        <p:nvSpPr>
          <p:cNvPr id="9" name="Text 7"/>
          <p:cNvSpPr/>
          <p:nvPr/>
        </p:nvSpPr>
        <p:spPr>
          <a:xfrm>
            <a:off x="2834640" y="1892808"/>
            <a:ext cx="8595360" cy="1005840"/>
          </a:xfrm>
          <a:prstGeom prst="rect">
            <a:avLst/>
          </a:prstGeom>
          <a:noFill/>
          <a:ln/>
        </p:spPr>
        <p:txBody>
          <a:bodyPr wrap="square" lIns="0" tIns="0" rIns="0" bIns="0" rtlCol="0" anchor="ctr"/>
          <a:lstStyle/>
          <a:p>
            <a:pPr indent="0" marL="0">
              <a:buNone/>
            </a:pPr>
            <a:r>
              <a:rPr lang="en-US" sz="1250" dirty="0">
                <a:solidFill>
                  <a:srgbClr val="5A6470"/>
                </a:solidFill>
                <a:latin typeface="Arial" pitchFamily="34" charset="0"/>
                <a:ea typeface="Arial" pitchFamily="34" charset="-122"/>
                <a:cs typeface="Arial" pitchFamily="34" charset="-120"/>
              </a:rPr>
              <a:t>The composition resolves a short-SHA image tag, and the image digest is captured optionally. A tag is a mutable pointer — nothing at the registry level guarantees it still resolves to the same image six months from now.</a:t>
            </a:r>
            <a:endParaRPr lang="en-US" sz="1250" dirty="0"/>
          </a:p>
        </p:txBody>
      </p:sp>
      <p:sp>
        <p:nvSpPr>
          <p:cNvPr id="10" name="Shape 8"/>
          <p:cNvSpPr/>
          <p:nvPr/>
        </p:nvSpPr>
        <p:spPr>
          <a:xfrm>
            <a:off x="548640" y="3200400"/>
            <a:ext cx="11091672" cy="1234440"/>
          </a:xfrm>
          <a:prstGeom prst="roundRect">
            <a:avLst>
              <a:gd name="adj" fmla="val 3704"/>
            </a:avLst>
          </a:prstGeom>
          <a:solidFill>
            <a:srgbClr val="E6F2FA"/>
          </a:solidFill>
          <a:ln w="19050">
            <a:solidFill>
              <a:srgbClr val="0093D0"/>
            </a:solidFill>
            <a:prstDash val="solid"/>
          </a:ln>
        </p:spPr>
      </p:sp>
      <p:sp>
        <p:nvSpPr>
          <p:cNvPr id="11" name="Text 9"/>
          <p:cNvSpPr/>
          <p:nvPr/>
        </p:nvSpPr>
        <p:spPr>
          <a:xfrm>
            <a:off x="777240" y="3310128"/>
            <a:ext cx="2011680" cy="274320"/>
          </a:xfrm>
          <a:prstGeom prst="rect">
            <a:avLst/>
          </a:prstGeom>
          <a:noFill/>
          <a:ln/>
        </p:spPr>
        <p:txBody>
          <a:bodyPr wrap="square" lIns="0" tIns="0" rIns="0" bIns="0" rtlCol="0" anchor="ctr"/>
          <a:lstStyle/>
          <a:p>
            <a:pPr indent="0" marL="0">
              <a:buNone/>
            </a:pPr>
            <a:r>
              <a:rPr lang="en-US" sz="1300" b="1" dirty="0">
                <a:solidFill>
                  <a:srgbClr val="0093D0"/>
                </a:solidFill>
                <a:latin typeface="Arial" pitchFamily="34" charset="0"/>
                <a:ea typeface="Arial" pitchFamily="34" charset="-122"/>
                <a:cs typeface="Arial" pitchFamily="34" charset="-120"/>
              </a:rPr>
              <a:t>Proposal</a:t>
            </a:r>
            <a:endParaRPr lang="en-US" sz="1300" dirty="0"/>
          </a:p>
        </p:txBody>
      </p:sp>
      <p:sp>
        <p:nvSpPr>
          <p:cNvPr id="12" name="Text 10"/>
          <p:cNvSpPr/>
          <p:nvPr/>
        </p:nvSpPr>
        <p:spPr>
          <a:xfrm>
            <a:off x="2834640" y="3310128"/>
            <a:ext cx="8595360" cy="1005840"/>
          </a:xfrm>
          <a:prstGeom prst="rect">
            <a:avLst/>
          </a:prstGeom>
          <a:noFill/>
          <a:ln/>
        </p:spPr>
        <p:txBody>
          <a:bodyPr wrap="square" lIns="0" tIns="0" rIns="0" bIns="0" rtlCol="0" anchor="ctr"/>
          <a:lstStyle/>
          <a:p>
            <a:pPr indent="0" marL="0">
              <a:buNone/>
            </a:pPr>
            <a:r>
              <a:rPr lang="en-US" sz="1250" dirty="0">
                <a:solidFill>
                  <a:srgbClr val="5A6470"/>
                </a:solidFill>
                <a:latin typeface="Arial" pitchFamily="34" charset="0"/>
                <a:ea typeface="Arial" pitchFamily="34" charset="-122"/>
                <a:cs typeface="Arial" pitchFamily="34" charset="-120"/>
              </a:rPr>
              <a:t>Resolve the digest for every application during composition, make it a required field in the release manifest, and fail release creation if any digest cannot be resolved. The tag stays, for human readability.</a:t>
            </a:r>
            <a:endParaRPr lang="en-US" sz="1250" dirty="0"/>
          </a:p>
        </p:txBody>
      </p:sp>
      <p:sp>
        <p:nvSpPr>
          <p:cNvPr id="13" name="Shape 11"/>
          <p:cNvSpPr/>
          <p:nvPr/>
        </p:nvSpPr>
        <p:spPr>
          <a:xfrm>
            <a:off x="548640" y="4617720"/>
            <a:ext cx="11091672" cy="1234440"/>
          </a:xfrm>
          <a:prstGeom prst="roundRect">
            <a:avLst>
              <a:gd name="adj" fmla="val 3704"/>
            </a:avLst>
          </a:prstGeom>
          <a:solidFill>
            <a:srgbClr val="E9F3EC"/>
          </a:solidFill>
          <a:ln w="19050">
            <a:solidFill>
              <a:srgbClr val="2E7D4F"/>
            </a:solidFill>
            <a:prstDash val="solid"/>
          </a:ln>
        </p:spPr>
      </p:sp>
      <p:sp>
        <p:nvSpPr>
          <p:cNvPr id="14" name="Text 12"/>
          <p:cNvSpPr/>
          <p:nvPr/>
        </p:nvSpPr>
        <p:spPr>
          <a:xfrm>
            <a:off x="777240" y="4727448"/>
            <a:ext cx="2011680" cy="274320"/>
          </a:xfrm>
          <a:prstGeom prst="rect">
            <a:avLst/>
          </a:prstGeom>
          <a:noFill/>
          <a:ln/>
        </p:spPr>
        <p:txBody>
          <a:bodyPr wrap="square" lIns="0" tIns="0" rIns="0" bIns="0" rtlCol="0" anchor="ctr"/>
          <a:lstStyle/>
          <a:p>
            <a:pPr indent="0" marL="0">
              <a:buNone/>
            </a:pPr>
            <a:r>
              <a:rPr lang="en-US" sz="1300" b="1" dirty="0">
                <a:solidFill>
                  <a:srgbClr val="2E7D4F"/>
                </a:solidFill>
                <a:latin typeface="Arial" pitchFamily="34" charset="0"/>
                <a:ea typeface="Arial" pitchFamily="34" charset="-122"/>
                <a:cs typeface="Arial" pitchFamily="34" charset="-120"/>
              </a:rPr>
              <a:t>Why it matters</a:t>
            </a:r>
            <a:endParaRPr lang="en-US" sz="1300" dirty="0"/>
          </a:p>
        </p:txBody>
      </p:sp>
      <p:sp>
        <p:nvSpPr>
          <p:cNvPr id="15" name="Text 13"/>
          <p:cNvSpPr/>
          <p:nvPr/>
        </p:nvSpPr>
        <p:spPr>
          <a:xfrm>
            <a:off x="2834640" y="4727448"/>
            <a:ext cx="8595360" cy="1005840"/>
          </a:xfrm>
          <a:prstGeom prst="rect">
            <a:avLst/>
          </a:prstGeom>
          <a:noFill/>
          <a:ln/>
        </p:spPr>
        <p:txBody>
          <a:bodyPr wrap="square" lIns="0" tIns="0" rIns="0" bIns="0" rtlCol="0" anchor="ctr"/>
          <a:lstStyle/>
          <a:p>
            <a:pPr indent="0" marL="0">
              <a:buNone/>
            </a:pPr>
            <a:r>
              <a:rPr lang="en-US" sz="1250" dirty="0">
                <a:solidFill>
                  <a:srgbClr val="5A6470"/>
                </a:solidFill>
                <a:latin typeface="Arial" pitchFamily="34" charset="0"/>
                <a:ea typeface="Arial" pitchFamily="34" charset="-122"/>
                <a:cs typeface="Arial" pitchFamily="34" charset="-120"/>
              </a:rPr>
              <a:t>A product release is supposed to be immutable. Without the digest, it is immutable only by convention. With it, redeploying 2026.09.1 in a year returns byte-identical images, and rollback becomes genuinely reliable.</a:t>
            </a:r>
            <a:endParaRPr lang="en-US" sz="1250" dirty="0"/>
          </a:p>
        </p:txBody>
      </p:sp>
      <p:sp>
        <p:nvSpPr>
          <p:cNvPr id="16" name="Text 14"/>
          <p:cNvSpPr/>
          <p:nvPr/>
        </p:nvSpPr>
        <p:spPr>
          <a:xfrm>
            <a:off x="548640" y="6126480"/>
            <a:ext cx="11091672" cy="320040"/>
          </a:xfrm>
          <a:prstGeom prst="rect">
            <a:avLst/>
          </a:prstGeom>
          <a:noFill/>
          <a:ln/>
        </p:spPr>
        <p:txBody>
          <a:bodyPr wrap="square" lIns="0" tIns="0" rIns="0" bIns="0" rtlCol="0" anchor="ctr"/>
          <a:lstStyle/>
          <a:p>
            <a:pPr indent="0" marL="0">
              <a:buNone/>
            </a:pPr>
            <a:r>
              <a:rPr lang="en-US" sz="1150" b="1" dirty="0">
                <a:solidFill>
                  <a:srgbClr val="1F3A68"/>
                </a:solidFill>
                <a:latin typeface="Arial" pitchFamily="34" charset="0"/>
                <a:ea typeface="Arial" pitchFamily="34" charset="-122"/>
                <a:cs typeface="Arial" pitchFamily="34" charset="-120"/>
              </a:rPr>
              <a:t>Small change, and it is the one that makes “immutable product release” literally true rather than aspirational.</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20040"/>
            <a:ext cx="11091672" cy="502920"/>
          </a:xfrm>
          <a:prstGeom prst="rect">
            <a:avLst/>
          </a:prstGeom>
          <a:noFill/>
          <a:ln/>
        </p:spPr>
        <p:txBody>
          <a:bodyPr wrap="square" lIns="0" tIns="0" rIns="0" bIns="0" rtlCol="0" anchor="ctr"/>
          <a:lstStyle/>
          <a:p>
            <a:pPr indent="0" marL="0">
              <a:buNone/>
            </a:pPr>
            <a:r>
              <a:rPr lang="en-US" sz="3000" b="1" dirty="0">
                <a:solidFill>
                  <a:srgbClr val="1F3A68"/>
                </a:solidFill>
                <a:latin typeface="Arial" pitchFamily="34" charset="0"/>
                <a:ea typeface="Arial" pitchFamily="34" charset="-122"/>
                <a:cs typeface="Arial" pitchFamily="34" charset="-120"/>
              </a:rPr>
              <a:t>2.  Validate artifact integrity once, at release creation</a:t>
            </a:r>
            <a:endParaRPr lang="en-US" sz="3000" dirty="0"/>
          </a:p>
        </p:txBody>
      </p:sp>
      <p:sp>
        <p:nvSpPr>
          <p:cNvPr id="3" name="Text 1"/>
          <p:cNvSpPr/>
          <p:nvPr/>
        </p:nvSpPr>
        <p:spPr>
          <a:xfrm>
            <a:off x="548640" y="868680"/>
            <a:ext cx="11091672" cy="320040"/>
          </a:xfrm>
          <a:prstGeom prst="rect">
            <a:avLst/>
          </a:prstGeom>
          <a:noFill/>
          <a:ln/>
        </p:spPr>
        <p:txBody>
          <a:bodyPr wrap="square" lIns="0" tIns="0" rIns="0" bIns="0" rtlCol="0" anchor="ctr"/>
          <a:lstStyle/>
          <a:p>
            <a:pPr indent="0" marL="0">
              <a:buNone/>
            </a:pPr>
            <a:r>
              <a:rPr lang="en-US" sz="1400" i="1" dirty="0">
                <a:solidFill>
                  <a:srgbClr val="5A6470"/>
                </a:solidFill>
                <a:latin typeface="Arial" pitchFamily="34" charset="0"/>
                <a:ea typeface="Arial" pitchFamily="34" charset="-122"/>
                <a:cs typeface="Arial" pitchFamily="34" charset="-120"/>
              </a:rPr>
              <a:t>Extend the release validation gate beyond “is the image in Harbor?”</a:t>
            </a:r>
            <a:endParaRPr lang="en-US" sz="1400" dirty="0"/>
          </a:p>
        </p:txBody>
      </p:sp>
      <p:sp>
        <p:nvSpPr>
          <p:cNvPr id="4" name="Shape 2"/>
          <p:cNvSpPr/>
          <p:nvPr/>
        </p:nvSpPr>
        <p:spPr>
          <a:xfrm>
            <a:off x="548640" y="1280160"/>
            <a:ext cx="960120" cy="274320"/>
          </a:xfrm>
          <a:prstGeom prst="roundRect">
            <a:avLst>
              <a:gd name="adj" fmla="val 33333"/>
            </a:avLst>
          </a:prstGeom>
          <a:solidFill>
            <a:srgbClr val="FFF2CC"/>
          </a:solidFill>
          <a:ln w="12700">
            <a:solidFill>
              <a:srgbClr val="D6B656"/>
            </a:solidFill>
            <a:prstDash val="solid"/>
          </a:ln>
        </p:spPr>
      </p:sp>
      <p:sp>
        <p:nvSpPr>
          <p:cNvPr id="5" name="Text 3"/>
          <p:cNvSpPr/>
          <p:nvPr/>
        </p:nvSpPr>
        <p:spPr>
          <a:xfrm>
            <a:off x="548640" y="1280160"/>
            <a:ext cx="960120" cy="274320"/>
          </a:xfrm>
          <a:prstGeom prst="rect">
            <a:avLst/>
          </a:prstGeom>
          <a:noFill/>
          <a:ln/>
        </p:spPr>
        <p:txBody>
          <a:bodyPr wrap="square" lIns="0" tIns="0" rIns="0" bIns="0" rtlCol="0" anchor="ctr"/>
          <a:lstStyle/>
          <a:p>
            <a:pPr algn="ctr" indent="0" marL="0">
              <a:buNone/>
            </a:pPr>
            <a:r>
              <a:rPr lang="en-US" sz="1000" b="1" dirty="0">
                <a:solidFill>
                  <a:srgbClr val="8A6D1F"/>
                </a:solidFill>
                <a:latin typeface="Arial" pitchFamily="34" charset="0"/>
                <a:ea typeface="Arial" pitchFamily="34" charset="-122"/>
                <a:cs typeface="Arial" pitchFamily="34" charset="-120"/>
              </a:rPr>
              <a:t>CHANGED</a:t>
            </a:r>
            <a:endParaRPr lang="en-US" sz="1000" dirty="0"/>
          </a:p>
        </p:txBody>
      </p:sp>
      <p:sp>
        <p:nvSpPr>
          <p:cNvPr id="6" name="Text 4"/>
          <p:cNvSpPr/>
          <p:nvPr/>
        </p:nvSpPr>
        <p:spPr>
          <a:xfrm>
            <a:off x="1645920" y="1280160"/>
            <a:ext cx="3657600" cy="274320"/>
          </a:xfrm>
          <a:prstGeom prst="rect">
            <a:avLst/>
          </a:prstGeom>
          <a:noFill/>
          <a:ln/>
        </p:spPr>
        <p:txBody>
          <a:bodyPr wrap="square" lIns="0" tIns="0" rIns="0" bIns="0" rtlCol="0" anchor="ctr"/>
          <a:lstStyle/>
          <a:p>
            <a:pPr indent="0" marL="0">
              <a:buNone/>
            </a:pPr>
            <a:r>
              <a:rPr lang="en-US" sz="1100" dirty="0">
                <a:solidFill>
                  <a:srgbClr val="5A6470"/>
                </a:solidFill>
                <a:latin typeface="Arial" pitchFamily="34" charset="0"/>
                <a:ea typeface="Arial" pitchFamily="34" charset="-122"/>
                <a:cs typeface="Arial" pitchFamily="34" charset="-120"/>
              </a:rPr>
              <a:t>Lane 2</a:t>
            </a:r>
            <a:endParaRPr lang="en-US" sz="1100" dirty="0"/>
          </a:p>
        </p:txBody>
      </p:sp>
      <p:sp>
        <p:nvSpPr>
          <p:cNvPr id="7" name="Shape 5"/>
          <p:cNvSpPr/>
          <p:nvPr/>
        </p:nvSpPr>
        <p:spPr>
          <a:xfrm>
            <a:off x="548640" y="1783080"/>
            <a:ext cx="11091672" cy="1234440"/>
          </a:xfrm>
          <a:prstGeom prst="roundRect">
            <a:avLst>
              <a:gd name="adj" fmla="val 3704"/>
            </a:avLst>
          </a:prstGeom>
          <a:solidFill>
            <a:srgbClr val="FBEAE7"/>
          </a:solidFill>
          <a:ln w="19050">
            <a:solidFill>
              <a:srgbClr val="C0392B"/>
            </a:solidFill>
            <a:prstDash val="solid"/>
          </a:ln>
        </p:spPr>
      </p:sp>
      <p:sp>
        <p:nvSpPr>
          <p:cNvPr id="8" name="Text 6"/>
          <p:cNvSpPr/>
          <p:nvPr/>
        </p:nvSpPr>
        <p:spPr>
          <a:xfrm>
            <a:off x="777240" y="1892808"/>
            <a:ext cx="2011680" cy="274320"/>
          </a:xfrm>
          <a:prstGeom prst="rect">
            <a:avLst/>
          </a:prstGeom>
          <a:noFill/>
          <a:ln/>
        </p:spPr>
        <p:txBody>
          <a:bodyPr wrap="square" lIns="0" tIns="0" rIns="0" bIns="0" rtlCol="0" anchor="ctr"/>
          <a:lstStyle/>
          <a:p>
            <a:pPr indent="0" marL="0">
              <a:buNone/>
            </a:pPr>
            <a:r>
              <a:rPr lang="en-US" sz="1300" b="1" dirty="0">
                <a:solidFill>
                  <a:srgbClr val="C0392B"/>
                </a:solidFill>
                <a:latin typeface="Arial" pitchFamily="34" charset="0"/>
                <a:ea typeface="Arial" pitchFamily="34" charset="-122"/>
                <a:cs typeface="Arial" pitchFamily="34" charset="-120"/>
              </a:rPr>
              <a:t>Today</a:t>
            </a:r>
            <a:endParaRPr lang="en-US" sz="1300" dirty="0"/>
          </a:p>
        </p:txBody>
      </p:sp>
      <p:sp>
        <p:nvSpPr>
          <p:cNvPr id="9" name="Text 7"/>
          <p:cNvSpPr/>
          <p:nvPr/>
        </p:nvSpPr>
        <p:spPr>
          <a:xfrm>
            <a:off x="2834640" y="1892808"/>
            <a:ext cx="8595360" cy="1005840"/>
          </a:xfrm>
          <a:prstGeom prst="rect">
            <a:avLst/>
          </a:prstGeom>
          <a:noFill/>
          <a:ln/>
        </p:spPr>
        <p:txBody>
          <a:bodyPr wrap="square" lIns="0" tIns="0" rIns="0" bIns="0" rtlCol="0" anchor="ctr"/>
          <a:lstStyle/>
          <a:p>
            <a:pPr indent="0" marL="0">
              <a:buNone/>
            </a:pPr>
            <a:r>
              <a:rPr lang="en-US" sz="1250" dirty="0">
                <a:solidFill>
                  <a:srgbClr val="5A6470"/>
                </a:solidFill>
                <a:latin typeface="Arial" pitchFamily="34" charset="0"/>
                <a:ea typeface="Arial" pitchFamily="34" charset="-122"/>
                <a:cs typeface="Arial" pitchFamily="34" charset="-120"/>
              </a:rPr>
              <a:t>Release validation confirms the images exist in Harbor. It does not confirm they were scanned, that a scan passed, that an SBOM exists, or that the image is signed. Those checks either happen per pipeline or not at all.</a:t>
            </a:r>
            <a:endParaRPr lang="en-US" sz="1250" dirty="0"/>
          </a:p>
        </p:txBody>
      </p:sp>
      <p:sp>
        <p:nvSpPr>
          <p:cNvPr id="10" name="Shape 8"/>
          <p:cNvSpPr/>
          <p:nvPr/>
        </p:nvSpPr>
        <p:spPr>
          <a:xfrm>
            <a:off x="548640" y="3200400"/>
            <a:ext cx="11091672" cy="1234440"/>
          </a:xfrm>
          <a:prstGeom prst="roundRect">
            <a:avLst>
              <a:gd name="adj" fmla="val 3704"/>
            </a:avLst>
          </a:prstGeom>
          <a:solidFill>
            <a:srgbClr val="E6F2FA"/>
          </a:solidFill>
          <a:ln w="19050">
            <a:solidFill>
              <a:srgbClr val="0093D0"/>
            </a:solidFill>
            <a:prstDash val="solid"/>
          </a:ln>
        </p:spPr>
      </p:sp>
      <p:sp>
        <p:nvSpPr>
          <p:cNvPr id="11" name="Text 9"/>
          <p:cNvSpPr/>
          <p:nvPr/>
        </p:nvSpPr>
        <p:spPr>
          <a:xfrm>
            <a:off x="777240" y="3310128"/>
            <a:ext cx="2011680" cy="274320"/>
          </a:xfrm>
          <a:prstGeom prst="rect">
            <a:avLst/>
          </a:prstGeom>
          <a:noFill/>
          <a:ln/>
        </p:spPr>
        <p:txBody>
          <a:bodyPr wrap="square" lIns="0" tIns="0" rIns="0" bIns="0" rtlCol="0" anchor="ctr"/>
          <a:lstStyle/>
          <a:p>
            <a:pPr indent="0" marL="0">
              <a:buNone/>
            </a:pPr>
            <a:r>
              <a:rPr lang="en-US" sz="1300" b="1" dirty="0">
                <a:solidFill>
                  <a:srgbClr val="0093D0"/>
                </a:solidFill>
                <a:latin typeface="Arial" pitchFamily="34" charset="0"/>
                <a:ea typeface="Arial" pitchFamily="34" charset="-122"/>
                <a:cs typeface="Arial" pitchFamily="34" charset="-120"/>
              </a:rPr>
              <a:t>Proposal</a:t>
            </a:r>
            <a:endParaRPr lang="en-US" sz="1300" dirty="0"/>
          </a:p>
        </p:txBody>
      </p:sp>
      <p:sp>
        <p:nvSpPr>
          <p:cNvPr id="12" name="Text 10"/>
          <p:cNvSpPr/>
          <p:nvPr/>
        </p:nvSpPr>
        <p:spPr>
          <a:xfrm>
            <a:off x="2834640" y="3310128"/>
            <a:ext cx="8595360" cy="1005840"/>
          </a:xfrm>
          <a:prstGeom prst="rect">
            <a:avLst/>
          </a:prstGeom>
          <a:noFill/>
          <a:ln/>
        </p:spPr>
        <p:txBody>
          <a:bodyPr wrap="square" lIns="0" tIns="0" rIns="0" bIns="0" rtlCol="0" anchor="ctr"/>
          <a:lstStyle/>
          <a:p>
            <a:pPr indent="0" marL="0">
              <a:buNone/>
            </a:pPr>
            <a:r>
              <a:rPr lang="en-US" sz="1250" dirty="0">
                <a:solidFill>
                  <a:srgbClr val="5A6470"/>
                </a:solidFill>
                <a:latin typeface="Arial" pitchFamily="34" charset="0"/>
                <a:ea typeface="Arial" pitchFamily="34" charset="-122"/>
                <a:cs typeface="Arial" pitchFamily="34" charset="-120"/>
              </a:rPr>
              <a:t>Add to the validation gate: digest resolved for every image, signature verifies, vulnerability scan passed against policy, SBOM present. A failure blocks release creation — consistent with the existing fail-without-Git-changes behaviour.</a:t>
            </a:r>
            <a:endParaRPr lang="en-US" sz="1250" dirty="0"/>
          </a:p>
        </p:txBody>
      </p:sp>
      <p:sp>
        <p:nvSpPr>
          <p:cNvPr id="13" name="Shape 11"/>
          <p:cNvSpPr/>
          <p:nvPr/>
        </p:nvSpPr>
        <p:spPr>
          <a:xfrm>
            <a:off x="548640" y="4617720"/>
            <a:ext cx="11091672" cy="1234440"/>
          </a:xfrm>
          <a:prstGeom prst="roundRect">
            <a:avLst>
              <a:gd name="adj" fmla="val 3704"/>
            </a:avLst>
          </a:prstGeom>
          <a:solidFill>
            <a:srgbClr val="E9F3EC"/>
          </a:solidFill>
          <a:ln w="19050">
            <a:solidFill>
              <a:srgbClr val="2E7D4F"/>
            </a:solidFill>
            <a:prstDash val="solid"/>
          </a:ln>
        </p:spPr>
      </p:sp>
      <p:sp>
        <p:nvSpPr>
          <p:cNvPr id="14" name="Text 12"/>
          <p:cNvSpPr/>
          <p:nvPr/>
        </p:nvSpPr>
        <p:spPr>
          <a:xfrm>
            <a:off x="777240" y="4727448"/>
            <a:ext cx="2011680" cy="274320"/>
          </a:xfrm>
          <a:prstGeom prst="rect">
            <a:avLst/>
          </a:prstGeom>
          <a:noFill/>
          <a:ln/>
        </p:spPr>
        <p:txBody>
          <a:bodyPr wrap="square" lIns="0" tIns="0" rIns="0" bIns="0" rtlCol="0" anchor="ctr"/>
          <a:lstStyle/>
          <a:p>
            <a:pPr indent="0" marL="0">
              <a:buNone/>
            </a:pPr>
            <a:r>
              <a:rPr lang="en-US" sz="1300" b="1" dirty="0">
                <a:solidFill>
                  <a:srgbClr val="2E7D4F"/>
                </a:solidFill>
                <a:latin typeface="Arial" pitchFamily="34" charset="0"/>
                <a:ea typeface="Arial" pitchFamily="34" charset="-122"/>
                <a:cs typeface="Arial" pitchFamily="34" charset="-120"/>
              </a:rPr>
              <a:t>Why it matters</a:t>
            </a:r>
            <a:endParaRPr lang="en-US" sz="1300" dirty="0"/>
          </a:p>
        </p:txBody>
      </p:sp>
      <p:sp>
        <p:nvSpPr>
          <p:cNvPr id="15" name="Text 13"/>
          <p:cNvSpPr/>
          <p:nvPr/>
        </p:nvSpPr>
        <p:spPr>
          <a:xfrm>
            <a:off x="2834640" y="4727448"/>
            <a:ext cx="8595360" cy="1005840"/>
          </a:xfrm>
          <a:prstGeom prst="rect">
            <a:avLst/>
          </a:prstGeom>
          <a:noFill/>
          <a:ln/>
        </p:spPr>
        <p:txBody>
          <a:bodyPr wrap="square" lIns="0" tIns="0" rIns="0" bIns="0" rtlCol="0" anchor="ctr"/>
          <a:lstStyle/>
          <a:p>
            <a:pPr indent="0" marL="0">
              <a:buNone/>
            </a:pPr>
            <a:r>
              <a:rPr lang="en-US" sz="1250" dirty="0">
                <a:solidFill>
                  <a:srgbClr val="5A6470"/>
                </a:solidFill>
                <a:latin typeface="Arial" pitchFamily="34" charset="0"/>
                <a:ea typeface="Arial" pitchFamily="34" charset="-122"/>
                <a:cs typeface="Arial" pitchFamily="34" charset="-120"/>
              </a:rPr>
              <a:t>The release is the natural choke point. Checking here means one place to enforce and one place to audit, rather than relying on every application pipeline to have done the right thing independently.</a:t>
            </a:r>
            <a:endParaRPr lang="en-US" sz="1250" dirty="0"/>
          </a:p>
        </p:txBody>
      </p:sp>
      <p:sp>
        <p:nvSpPr>
          <p:cNvPr id="16" name="Text 14"/>
          <p:cNvSpPr/>
          <p:nvPr/>
        </p:nvSpPr>
        <p:spPr>
          <a:xfrm>
            <a:off x="548640" y="6126480"/>
            <a:ext cx="11091672" cy="320040"/>
          </a:xfrm>
          <a:prstGeom prst="rect">
            <a:avLst/>
          </a:prstGeom>
          <a:noFill/>
          <a:ln/>
        </p:spPr>
        <p:txBody>
          <a:bodyPr wrap="square" lIns="0" tIns="0" rIns="0" bIns="0" rtlCol="0" anchor="ctr"/>
          <a:lstStyle/>
          <a:p>
            <a:pPr indent="0" marL="0">
              <a:buNone/>
            </a:pPr>
            <a:r>
              <a:rPr lang="en-US" sz="1150" b="1" dirty="0">
                <a:solidFill>
                  <a:srgbClr val="1F3A68"/>
                </a:solidFill>
                <a:latin typeface="Arial" pitchFamily="34" charset="0"/>
                <a:ea typeface="Arial" pitchFamily="34" charset="-122"/>
                <a:cs typeface="Arial" pitchFamily="34" charset="-120"/>
              </a:rPr>
              <a:t>This also closes the open question of which CI controls actually block publication versus merely report.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0040"/>
            <a:ext cx="11091672" cy="502920"/>
          </a:xfrm>
          <a:prstGeom prst="rect">
            <a:avLst/>
          </a:prstGeom>
          <a:noFill/>
          <a:ln/>
        </p:spPr>
        <p:txBody>
          <a:bodyPr wrap="square" lIns="0" tIns="0" rIns="0" bIns="0" rtlCol="0" anchor="ctr"/>
          <a:lstStyle/>
          <a:p>
            <a:pPr indent="0" marL="0">
              <a:buNone/>
            </a:pPr>
            <a:r>
              <a:rPr lang="en-US" sz="3000" b="1" dirty="0">
                <a:solidFill>
                  <a:srgbClr val="1F3A68"/>
                </a:solidFill>
                <a:latin typeface="Arial" pitchFamily="34" charset="0"/>
                <a:ea typeface="Arial" pitchFamily="34" charset="-122"/>
                <a:cs typeface="Arial" pitchFamily="34" charset="-120"/>
              </a:rPr>
              <a:t>3 &amp; 4.  Release lifecycle states and composition diff</a:t>
            </a:r>
            <a:endParaRPr lang="en-US" sz="3000" dirty="0"/>
          </a:p>
        </p:txBody>
      </p:sp>
      <p:sp>
        <p:nvSpPr>
          <p:cNvPr id="3" name="Text 1"/>
          <p:cNvSpPr/>
          <p:nvPr/>
        </p:nvSpPr>
        <p:spPr>
          <a:xfrm>
            <a:off x="548640" y="868680"/>
            <a:ext cx="11091672" cy="320040"/>
          </a:xfrm>
          <a:prstGeom prst="rect">
            <a:avLst/>
          </a:prstGeom>
          <a:noFill/>
          <a:ln/>
        </p:spPr>
        <p:txBody>
          <a:bodyPr wrap="square" lIns="0" tIns="0" rIns="0" bIns="0" rtlCol="0" anchor="ctr"/>
          <a:lstStyle/>
          <a:p>
            <a:pPr indent="0" marL="0">
              <a:buNone/>
            </a:pPr>
            <a:r>
              <a:rPr lang="en-US" sz="1400" i="1" dirty="0">
                <a:solidFill>
                  <a:srgbClr val="5A6470"/>
                </a:solidFill>
                <a:latin typeface="Arial" pitchFamily="34" charset="0"/>
                <a:ea typeface="Arial" pitchFamily="34" charset="-122"/>
                <a:cs typeface="Arial" pitchFamily="34" charset="-120"/>
              </a:rPr>
              <a:t>Two additions that make releases trackable, not just reproducible</a:t>
            </a:r>
            <a:endParaRPr lang="en-US" sz="1400" dirty="0"/>
          </a:p>
        </p:txBody>
      </p:sp>
      <p:sp>
        <p:nvSpPr>
          <p:cNvPr id="4" name="Shape 2"/>
          <p:cNvSpPr/>
          <p:nvPr/>
        </p:nvSpPr>
        <p:spPr>
          <a:xfrm>
            <a:off x="548640" y="1325880"/>
            <a:ext cx="5440680" cy="4297680"/>
          </a:xfrm>
          <a:prstGeom prst="roundRect">
            <a:avLst>
              <a:gd name="adj" fmla="val 1064"/>
            </a:avLst>
          </a:prstGeom>
          <a:solidFill>
            <a:srgbClr val="FFFFFF"/>
          </a:solidFill>
          <a:ln w="19050">
            <a:solidFill>
              <a:srgbClr val="2E7D4F"/>
            </a:solidFill>
            <a:prstDash val="solid"/>
          </a:ln>
        </p:spPr>
      </p:sp>
      <p:sp>
        <p:nvSpPr>
          <p:cNvPr id="5" name="Shape 3"/>
          <p:cNvSpPr/>
          <p:nvPr/>
        </p:nvSpPr>
        <p:spPr>
          <a:xfrm>
            <a:off x="777240" y="1508760"/>
            <a:ext cx="960120" cy="274320"/>
          </a:xfrm>
          <a:prstGeom prst="roundRect">
            <a:avLst>
              <a:gd name="adj" fmla="val 33333"/>
            </a:avLst>
          </a:prstGeom>
          <a:solidFill>
            <a:srgbClr val="E9F3EC"/>
          </a:solidFill>
          <a:ln w="12700">
            <a:solidFill>
              <a:srgbClr val="2E7D4F"/>
            </a:solidFill>
            <a:prstDash val="solid"/>
          </a:ln>
        </p:spPr>
      </p:sp>
      <p:sp>
        <p:nvSpPr>
          <p:cNvPr id="6" name="Text 4"/>
          <p:cNvSpPr/>
          <p:nvPr/>
        </p:nvSpPr>
        <p:spPr>
          <a:xfrm>
            <a:off x="777240" y="1508760"/>
            <a:ext cx="960120" cy="274320"/>
          </a:xfrm>
          <a:prstGeom prst="rect">
            <a:avLst/>
          </a:prstGeom>
          <a:noFill/>
          <a:ln/>
        </p:spPr>
        <p:txBody>
          <a:bodyPr wrap="square" lIns="0" tIns="0" rIns="0" bIns="0" rtlCol="0" anchor="ctr"/>
          <a:lstStyle/>
          <a:p>
            <a:pPr algn="ctr" indent="0" marL="0">
              <a:buNone/>
            </a:pPr>
            <a:r>
              <a:rPr lang="en-US" sz="1000" b="1" dirty="0">
                <a:solidFill>
                  <a:srgbClr val="2E7D4F"/>
                </a:solidFill>
                <a:latin typeface="Arial" pitchFamily="34" charset="0"/>
                <a:ea typeface="Arial" pitchFamily="34" charset="-122"/>
                <a:cs typeface="Arial" pitchFamily="34" charset="-120"/>
              </a:rPr>
              <a:t>NEW</a:t>
            </a:r>
            <a:endParaRPr lang="en-US" sz="1000" dirty="0"/>
          </a:p>
        </p:txBody>
      </p:sp>
      <p:sp>
        <p:nvSpPr>
          <p:cNvPr id="7" name="Text 5"/>
          <p:cNvSpPr/>
          <p:nvPr/>
        </p:nvSpPr>
        <p:spPr>
          <a:xfrm>
            <a:off x="1920240" y="1508760"/>
            <a:ext cx="3840480" cy="274320"/>
          </a:xfrm>
          <a:prstGeom prst="rect">
            <a:avLst/>
          </a:prstGeom>
          <a:noFill/>
          <a:ln/>
        </p:spPr>
        <p:txBody>
          <a:bodyPr wrap="square" lIns="0" tIns="0" rIns="0" bIns="0" rtlCol="0" anchor="ctr"/>
          <a:lstStyle/>
          <a:p>
            <a:pPr indent="0" marL="0">
              <a:buNone/>
            </a:pPr>
            <a:r>
              <a:rPr lang="en-US" sz="1500" b="1" dirty="0">
                <a:solidFill>
                  <a:srgbClr val="1F3A68"/>
                </a:solidFill>
                <a:latin typeface="Arial" pitchFamily="34" charset="0"/>
                <a:ea typeface="Arial" pitchFamily="34" charset="-122"/>
                <a:cs typeface="Arial" pitchFamily="34" charset="-120"/>
              </a:rPr>
              <a:t>Release lifecycle state</a:t>
            </a:r>
            <a:endParaRPr lang="en-US" sz="1500" dirty="0"/>
          </a:p>
        </p:txBody>
      </p:sp>
      <p:sp>
        <p:nvSpPr>
          <p:cNvPr id="8" name="Text 6"/>
          <p:cNvSpPr/>
          <p:nvPr/>
        </p:nvSpPr>
        <p:spPr>
          <a:xfrm>
            <a:off x="777240" y="1920240"/>
            <a:ext cx="4983480" cy="457200"/>
          </a:xfrm>
          <a:prstGeom prst="rect">
            <a:avLst/>
          </a:prstGeom>
          <a:noFill/>
          <a:ln/>
        </p:spPr>
        <p:txBody>
          <a:bodyPr wrap="square" lIns="0" tIns="0" rIns="0" bIns="0" rtlCol="0" anchor="ctr"/>
          <a:lstStyle/>
          <a:p>
            <a:pPr indent="0" marL="0">
              <a:buNone/>
            </a:pPr>
            <a:r>
              <a:rPr lang="en-US" sz="1200" b="1" dirty="0">
                <a:solidFill>
                  <a:srgbClr val="2E7D4F"/>
                </a:solidFill>
                <a:latin typeface="Arial" pitchFamily="34" charset="0"/>
                <a:ea typeface="Arial" pitchFamily="34" charset="-122"/>
                <a:cs typeface="Arial" pitchFamily="34" charset="-120"/>
              </a:rPr>
              <a:t>draft  →  validated  →  approved  →  in rollout  →  superseded</a:t>
            </a:r>
            <a:endParaRPr lang="en-US" sz="1200" dirty="0"/>
          </a:p>
        </p:txBody>
      </p:sp>
      <p:sp>
        <p:nvSpPr>
          <p:cNvPr id="9" name="Text 7"/>
          <p:cNvSpPr/>
          <p:nvPr/>
        </p:nvSpPr>
        <p:spPr>
          <a:xfrm>
            <a:off x="822960" y="2468880"/>
            <a:ext cx="4937760" cy="2926080"/>
          </a:xfrm>
          <a:prstGeom prst="rect">
            <a:avLst/>
          </a:prstGeom>
          <a:noFill/>
          <a:ln/>
        </p:spPr>
        <p:txBody>
          <a:bodyPr wrap="square" lIns="0" tIns="0" rIns="0" bIns="0" rtlCol="0" anchor="ctr"/>
          <a:lstStyle/>
          <a:p>
            <a:pPr marL="342900" indent="-342900">
              <a:spcAft>
                <a:spcPts val="900"/>
              </a:spcAft>
              <a:buSzPct val="100000"/>
              <a:buChar char="•"/>
            </a:pPr>
            <a:r>
              <a:rPr lang="en-US" sz="1200" dirty="0">
                <a:solidFill>
                  <a:srgbClr val="5A6470"/>
                </a:solidFill>
                <a:latin typeface="Arial" pitchFamily="34" charset="0"/>
                <a:ea typeface="Arial" pitchFamily="34" charset="-122"/>
                <a:cs typeface="Arial" pitchFamily="34" charset="-120"/>
              </a:rPr>
              <a:t>State is tracked against the release, not against a site.</a:t>
            </a:r>
            <a:endParaRPr lang="en-US" sz="1200" dirty="0"/>
          </a:p>
          <a:p>
            <a:pPr marL="342900" indent="-342900">
              <a:spcAft>
                <a:spcPts val="900"/>
              </a:spcAft>
              <a:buSzPct val="100000"/>
              <a:buChar char="•"/>
            </a:pPr>
            <a:r>
              <a:rPr lang="en-US" sz="1200" dirty="0">
                <a:solidFill>
                  <a:srgbClr val="5A6470"/>
                </a:solidFill>
                <a:latin typeface="Arial" pitchFamily="34" charset="0"/>
                <a:ea typeface="Arial" pitchFamily="34" charset="-122"/>
                <a:cs typeface="Arial" pitchFamily="34" charset="-120"/>
              </a:rPr>
              <a:t>Answers the question nobody can answer today: which releases are currently deployable?</a:t>
            </a:r>
            <a:endParaRPr lang="en-US" sz="1200" dirty="0"/>
          </a:p>
          <a:p>
            <a:pPr marL="342900" indent="-342900">
              <a:spcAft>
                <a:spcPts val="900"/>
              </a:spcAft>
              <a:buSzPct val="100000"/>
              <a:buChar char="•"/>
            </a:pPr>
            <a:r>
              <a:rPr lang="en-US" sz="1200" dirty="0">
                <a:solidFill>
                  <a:srgbClr val="5A6470"/>
                </a:solidFill>
                <a:latin typeface="Arial" pitchFamily="34" charset="0"/>
                <a:ea typeface="Arial" pitchFamily="34" charset="-122"/>
                <a:cs typeface="Arial" pitchFamily="34" charset="-120"/>
              </a:rPr>
              <a:t>Lets an unsafe release be withdrawn without deleting it — history stays intact, but it can no longer be selected.</a:t>
            </a:r>
            <a:endParaRPr lang="en-US" sz="1200" dirty="0"/>
          </a:p>
          <a:p>
            <a:pPr marL="342900" indent="-342900">
              <a:spcAft>
                <a:spcPts val="900"/>
              </a:spcAft>
              <a:buSzPct val="100000"/>
              <a:buChar char="•"/>
            </a:pPr>
            <a:r>
              <a:rPr lang="en-US" sz="1200" dirty="0">
                <a:solidFill>
                  <a:srgbClr val="5A6470"/>
                </a:solidFill>
                <a:latin typeface="Arial" pitchFamily="34" charset="0"/>
                <a:ea typeface="Arial" pitchFamily="34" charset="-122"/>
                <a:cs typeface="Arial" pitchFamily="34" charset="-120"/>
              </a:rPr>
              <a:t>Gives the deploy step a precondition it can actually check.</a:t>
            </a:r>
            <a:endParaRPr lang="en-US" sz="1200" dirty="0"/>
          </a:p>
        </p:txBody>
      </p:sp>
      <p:sp>
        <p:nvSpPr>
          <p:cNvPr id="10" name="Shape 8"/>
          <p:cNvSpPr/>
          <p:nvPr/>
        </p:nvSpPr>
        <p:spPr>
          <a:xfrm>
            <a:off x="6199632" y="1325880"/>
            <a:ext cx="5440680" cy="4297680"/>
          </a:xfrm>
          <a:prstGeom prst="roundRect">
            <a:avLst>
              <a:gd name="adj" fmla="val 1064"/>
            </a:avLst>
          </a:prstGeom>
          <a:solidFill>
            <a:srgbClr val="FFFFFF"/>
          </a:solidFill>
          <a:ln w="19050">
            <a:solidFill>
              <a:srgbClr val="2E7D4F"/>
            </a:solidFill>
            <a:prstDash val="solid"/>
          </a:ln>
        </p:spPr>
      </p:sp>
      <p:sp>
        <p:nvSpPr>
          <p:cNvPr id="11" name="Shape 9"/>
          <p:cNvSpPr/>
          <p:nvPr/>
        </p:nvSpPr>
        <p:spPr>
          <a:xfrm>
            <a:off x="6428232" y="1508760"/>
            <a:ext cx="960120" cy="274320"/>
          </a:xfrm>
          <a:prstGeom prst="roundRect">
            <a:avLst>
              <a:gd name="adj" fmla="val 33333"/>
            </a:avLst>
          </a:prstGeom>
          <a:solidFill>
            <a:srgbClr val="E9F3EC"/>
          </a:solidFill>
          <a:ln w="12700">
            <a:solidFill>
              <a:srgbClr val="2E7D4F"/>
            </a:solidFill>
            <a:prstDash val="solid"/>
          </a:ln>
        </p:spPr>
      </p:sp>
      <p:sp>
        <p:nvSpPr>
          <p:cNvPr id="12" name="Text 10"/>
          <p:cNvSpPr/>
          <p:nvPr/>
        </p:nvSpPr>
        <p:spPr>
          <a:xfrm>
            <a:off x="6428232" y="1508760"/>
            <a:ext cx="960120" cy="274320"/>
          </a:xfrm>
          <a:prstGeom prst="rect">
            <a:avLst/>
          </a:prstGeom>
          <a:noFill/>
          <a:ln/>
        </p:spPr>
        <p:txBody>
          <a:bodyPr wrap="square" lIns="0" tIns="0" rIns="0" bIns="0" rtlCol="0" anchor="ctr"/>
          <a:lstStyle/>
          <a:p>
            <a:pPr algn="ctr" indent="0" marL="0">
              <a:buNone/>
            </a:pPr>
            <a:r>
              <a:rPr lang="en-US" sz="1000" b="1" dirty="0">
                <a:solidFill>
                  <a:srgbClr val="2E7D4F"/>
                </a:solidFill>
                <a:latin typeface="Arial" pitchFamily="34" charset="0"/>
                <a:ea typeface="Arial" pitchFamily="34" charset="-122"/>
                <a:cs typeface="Arial" pitchFamily="34" charset="-120"/>
              </a:rPr>
              <a:t>NEW</a:t>
            </a:r>
            <a:endParaRPr lang="en-US" sz="1000" dirty="0"/>
          </a:p>
        </p:txBody>
      </p:sp>
      <p:sp>
        <p:nvSpPr>
          <p:cNvPr id="13" name="Text 11"/>
          <p:cNvSpPr/>
          <p:nvPr/>
        </p:nvSpPr>
        <p:spPr>
          <a:xfrm>
            <a:off x="7571232" y="1508760"/>
            <a:ext cx="3931920" cy="274320"/>
          </a:xfrm>
          <a:prstGeom prst="rect">
            <a:avLst/>
          </a:prstGeom>
          <a:noFill/>
          <a:ln/>
        </p:spPr>
        <p:txBody>
          <a:bodyPr wrap="square" lIns="0" tIns="0" rIns="0" bIns="0" rtlCol="0" anchor="ctr"/>
          <a:lstStyle/>
          <a:p>
            <a:pPr indent="0" marL="0">
              <a:buNone/>
            </a:pPr>
            <a:r>
              <a:rPr lang="en-US" sz="1500" b="1" dirty="0">
                <a:solidFill>
                  <a:srgbClr val="1F3A68"/>
                </a:solidFill>
                <a:latin typeface="Arial" pitchFamily="34" charset="0"/>
                <a:ea typeface="Arial" pitchFamily="34" charset="-122"/>
                <a:cs typeface="Arial" pitchFamily="34" charset="-120"/>
              </a:rPr>
              <a:t>Composition diff &amp; release notes</a:t>
            </a:r>
            <a:endParaRPr lang="en-US" sz="1500" dirty="0"/>
          </a:p>
        </p:txBody>
      </p:sp>
      <p:sp>
        <p:nvSpPr>
          <p:cNvPr id="14" name="Text 12"/>
          <p:cNvSpPr/>
          <p:nvPr/>
        </p:nvSpPr>
        <p:spPr>
          <a:xfrm>
            <a:off x="6428232" y="1920240"/>
            <a:ext cx="4983480" cy="457200"/>
          </a:xfrm>
          <a:prstGeom prst="rect">
            <a:avLst/>
          </a:prstGeom>
          <a:noFill/>
          <a:ln/>
        </p:spPr>
        <p:txBody>
          <a:bodyPr wrap="square" lIns="0" tIns="0" rIns="0" bIns="0" rtlCol="0" anchor="ctr"/>
          <a:lstStyle/>
          <a:p>
            <a:pPr indent="0" marL="0">
              <a:buNone/>
            </a:pPr>
            <a:r>
              <a:rPr lang="en-US" sz="1200" b="1" dirty="0">
                <a:solidFill>
                  <a:srgbClr val="2E7D4F"/>
                </a:solidFill>
                <a:latin typeface="Arial" pitchFamily="34" charset="0"/>
                <a:ea typeface="Arial" pitchFamily="34" charset="-122"/>
                <a:cs typeface="Arial" pitchFamily="34" charset="-120"/>
              </a:rPr>
              <a:t>2026.08.2  →  2026.09.1   generated automatically</a:t>
            </a:r>
            <a:endParaRPr lang="en-US" sz="1200" dirty="0"/>
          </a:p>
        </p:txBody>
      </p:sp>
      <p:sp>
        <p:nvSpPr>
          <p:cNvPr id="15" name="Text 13"/>
          <p:cNvSpPr/>
          <p:nvPr/>
        </p:nvSpPr>
        <p:spPr>
          <a:xfrm>
            <a:off x="6473952" y="2468880"/>
            <a:ext cx="4937760" cy="2926080"/>
          </a:xfrm>
          <a:prstGeom prst="rect">
            <a:avLst/>
          </a:prstGeom>
          <a:noFill/>
          <a:ln/>
        </p:spPr>
        <p:txBody>
          <a:bodyPr wrap="square" lIns="0" tIns="0" rIns="0" bIns="0" rtlCol="0" anchor="ctr"/>
          <a:lstStyle/>
          <a:p>
            <a:pPr marL="342900" indent="-342900">
              <a:spcAft>
                <a:spcPts val="900"/>
              </a:spcAft>
              <a:buSzPct val="100000"/>
              <a:buChar char="•"/>
            </a:pPr>
            <a:r>
              <a:rPr lang="en-US" sz="1200" dirty="0">
                <a:solidFill>
                  <a:srgbClr val="5A6470"/>
                </a:solidFill>
                <a:latin typeface="Arial" pitchFamily="34" charset="0"/>
                <a:ea typeface="Arial" pitchFamily="34" charset="-122"/>
                <a:cs typeface="Arial" pitchFamily="34" charset="-120"/>
              </a:rPr>
              <a:t>Which applications changed, and which did not.</a:t>
            </a:r>
            <a:endParaRPr lang="en-US" sz="1200" dirty="0"/>
          </a:p>
          <a:p>
            <a:pPr marL="342900" indent="-342900">
              <a:spcAft>
                <a:spcPts val="900"/>
              </a:spcAft>
              <a:buSzPct val="100000"/>
              <a:buChar char="•"/>
            </a:pPr>
            <a:r>
              <a:rPr lang="en-US" sz="1200" dirty="0">
                <a:solidFill>
                  <a:srgbClr val="5A6470"/>
                </a:solidFill>
                <a:latin typeface="Arial" pitchFamily="34" charset="0"/>
                <a:ea typeface="Arial" pitchFamily="34" charset="-122"/>
                <a:cs typeface="Arial" pitchFamily="34" charset="-120"/>
              </a:rPr>
              <a:t>From which version to which version, with the commit range for each.</a:t>
            </a:r>
            <a:endParaRPr lang="en-US" sz="1200" dirty="0"/>
          </a:p>
          <a:p>
            <a:pPr marL="342900" indent="-342900">
              <a:spcAft>
                <a:spcPts val="900"/>
              </a:spcAft>
              <a:buSzPct val="100000"/>
              <a:buChar char="•"/>
            </a:pPr>
            <a:r>
              <a:rPr lang="en-US" sz="1200" dirty="0">
                <a:solidFill>
                  <a:srgbClr val="5A6470"/>
                </a:solidFill>
                <a:latin typeface="Arial" pitchFamily="34" charset="0"/>
                <a:ea typeface="Arial" pitchFamily="34" charset="-122"/>
                <a:cs typeface="Arial" pitchFamily="34" charset="-120"/>
              </a:rPr>
              <a:t>Derived from two immutable manifests, so it is always accurate and needs no manual upkeep.</a:t>
            </a:r>
            <a:endParaRPr lang="en-US" sz="1200" dirty="0"/>
          </a:p>
          <a:p>
            <a:pPr marL="342900" indent="-342900">
              <a:spcAft>
                <a:spcPts val="900"/>
              </a:spcAft>
              <a:buSzPct val="100000"/>
              <a:buChar char="•"/>
            </a:pPr>
            <a:r>
              <a:rPr lang="en-US" sz="1200" dirty="0">
                <a:solidFill>
                  <a:srgbClr val="5A6470"/>
                </a:solidFill>
                <a:latin typeface="Arial" pitchFamily="34" charset="0"/>
                <a:ea typeface="Arial" pitchFamily="34" charset="-122"/>
                <a:cs typeface="Arial" pitchFamily="34" charset="-120"/>
              </a:rPr>
              <a:t>Becomes the release note that goes to the sites — and the first thing to read when something breaks after a deployment.</a:t>
            </a:r>
            <a:endParaRPr lang="en-US" sz="1200" dirty="0"/>
          </a:p>
        </p:txBody>
      </p:sp>
      <p:sp>
        <p:nvSpPr>
          <p:cNvPr id="16" name="Text 14"/>
          <p:cNvSpPr/>
          <p:nvPr/>
        </p:nvSpPr>
        <p:spPr>
          <a:xfrm>
            <a:off x="548640" y="5806440"/>
            <a:ext cx="11091672" cy="365760"/>
          </a:xfrm>
          <a:prstGeom prst="rect">
            <a:avLst/>
          </a:prstGeom>
          <a:noFill/>
          <a:ln/>
        </p:spPr>
        <p:txBody>
          <a:bodyPr wrap="square" lIns="0" tIns="0" rIns="0" bIns="0" rtlCol="0" anchor="ctr"/>
          <a:lstStyle/>
          <a:p>
            <a:pPr indent="0" marL="0">
              <a:buNone/>
            </a:pPr>
            <a:r>
              <a:rPr lang="en-US" sz="1200" b="1" dirty="0">
                <a:solidFill>
                  <a:srgbClr val="1F3A68"/>
                </a:solidFill>
                <a:latin typeface="Arial" pitchFamily="34" charset="0"/>
                <a:ea typeface="Arial" pitchFamily="34" charset="-122"/>
                <a:cs typeface="Arial" pitchFamily="34" charset="-120"/>
              </a:rPr>
              <a:t>Together these turn a set of manifests into a release register: what exists, what may be deployed, and what changed between any two releases.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20040"/>
            <a:ext cx="11091672" cy="502920"/>
          </a:xfrm>
          <a:prstGeom prst="rect">
            <a:avLst/>
          </a:prstGeom>
          <a:noFill/>
          <a:ln/>
        </p:spPr>
        <p:txBody>
          <a:bodyPr wrap="square" lIns="0" tIns="0" rIns="0" bIns="0" rtlCol="0" anchor="ctr"/>
          <a:lstStyle/>
          <a:p>
            <a:pPr indent="0" marL="0">
              <a:buNone/>
            </a:pPr>
            <a:r>
              <a:rPr lang="en-US" sz="3000" b="1" dirty="0">
                <a:solidFill>
                  <a:srgbClr val="1F3A68"/>
                </a:solidFill>
                <a:latin typeface="Arial" pitchFamily="34" charset="0"/>
                <a:ea typeface="Arial" pitchFamily="34" charset="-122"/>
                <a:cs typeface="Arial" pitchFamily="34" charset="-120"/>
              </a:rPr>
              <a:t>5.  Staged rollout waves</a:t>
            </a:r>
            <a:endParaRPr lang="en-US" sz="3000" dirty="0"/>
          </a:p>
        </p:txBody>
      </p:sp>
      <p:sp>
        <p:nvSpPr>
          <p:cNvPr id="3" name="Text 1"/>
          <p:cNvSpPr/>
          <p:nvPr/>
        </p:nvSpPr>
        <p:spPr>
          <a:xfrm>
            <a:off x="548640" y="868680"/>
            <a:ext cx="11091672" cy="320040"/>
          </a:xfrm>
          <a:prstGeom prst="rect">
            <a:avLst/>
          </a:prstGeom>
          <a:noFill/>
          <a:ln/>
        </p:spPr>
        <p:txBody>
          <a:bodyPr wrap="square" lIns="0" tIns="0" rIns="0" bIns="0" rtlCol="0" anchor="ctr"/>
          <a:lstStyle/>
          <a:p>
            <a:pPr indent="0" marL="0">
              <a:buNone/>
            </a:pPr>
            <a:r>
              <a:rPr lang="en-US" sz="1400" i="1" dirty="0">
                <a:solidFill>
                  <a:srgbClr val="5A6470"/>
                </a:solidFill>
                <a:latin typeface="Arial" pitchFamily="34" charset="0"/>
                <a:ea typeface="Arial" pitchFamily="34" charset="-122"/>
                <a:cs typeface="Arial" pitchFamily="34" charset="-120"/>
              </a:rPr>
              <a:t>Bound the blast radius across 20+ production sites</a:t>
            </a:r>
            <a:endParaRPr lang="en-US" sz="1400" dirty="0"/>
          </a:p>
        </p:txBody>
      </p:sp>
      <p:sp>
        <p:nvSpPr>
          <p:cNvPr id="4" name="Shape 2"/>
          <p:cNvSpPr/>
          <p:nvPr/>
        </p:nvSpPr>
        <p:spPr>
          <a:xfrm>
            <a:off x="548640" y="1325880"/>
            <a:ext cx="11091672" cy="1051560"/>
          </a:xfrm>
          <a:prstGeom prst="roundRect">
            <a:avLst>
              <a:gd name="adj" fmla="val 4348"/>
            </a:avLst>
          </a:prstGeom>
          <a:solidFill>
            <a:srgbClr val="FBEAE7"/>
          </a:solidFill>
          <a:ln w="19050">
            <a:solidFill>
              <a:srgbClr val="C0392B"/>
            </a:solidFill>
            <a:prstDash val="solid"/>
          </a:ln>
        </p:spPr>
      </p:sp>
      <p:sp>
        <p:nvSpPr>
          <p:cNvPr id="5" name="Text 3"/>
          <p:cNvSpPr/>
          <p:nvPr/>
        </p:nvSpPr>
        <p:spPr>
          <a:xfrm>
            <a:off x="777240" y="1463040"/>
            <a:ext cx="2011680" cy="274320"/>
          </a:xfrm>
          <a:prstGeom prst="rect">
            <a:avLst/>
          </a:prstGeom>
          <a:noFill/>
          <a:ln/>
        </p:spPr>
        <p:txBody>
          <a:bodyPr wrap="square" lIns="0" tIns="0" rIns="0" bIns="0" rtlCol="0" anchor="ctr"/>
          <a:lstStyle/>
          <a:p>
            <a:pPr indent="0" marL="0">
              <a:buNone/>
            </a:pPr>
            <a:r>
              <a:rPr lang="en-US" sz="1300" b="1" dirty="0">
                <a:solidFill>
                  <a:srgbClr val="C0392B"/>
                </a:solidFill>
                <a:latin typeface="Arial" pitchFamily="34" charset="0"/>
                <a:ea typeface="Arial" pitchFamily="34" charset="-122"/>
                <a:cs typeface="Arial" pitchFamily="34" charset="-120"/>
              </a:rPr>
              <a:t>Today</a:t>
            </a:r>
            <a:endParaRPr lang="en-US" sz="1300" dirty="0"/>
          </a:p>
        </p:txBody>
      </p:sp>
      <p:sp>
        <p:nvSpPr>
          <p:cNvPr id="6" name="Text 4"/>
          <p:cNvSpPr/>
          <p:nvPr/>
        </p:nvSpPr>
        <p:spPr>
          <a:xfrm>
            <a:off x="2834640" y="1463040"/>
            <a:ext cx="8595360" cy="822960"/>
          </a:xfrm>
          <a:prstGeom prst="rect">
            <a:avLst/>
          </a:prstGeom>
          <a:noFill/>
          <a:ln/>
        </p:spPr>
        <p:txBody>
          <a:bodyPr wrap="square" lIns="0" tIns="0" rIns="0" bIns="0" rtlCol="0" anchor="ctr"/>
          <a:lstStyle/>
          <a:p>
            <a:pPr indent="0" marL="0">
              <a:buNone/>
            </a:pPr>
            <a:r>
              <a:rPr lang="en-US" sz="1250" dirty="0">
                <a:solidFill>
                  <a:srgbClr val="5A6470"/>
                </a:solidFill>
                <a:latin typeface="Arial" pitchFamily="34" charset="0"/>
                <a:ea typeface="Arial" pitchFamily="34" charset="-122"/>
                <a:cs typeface="Arial" pitchFamily="34" charset="-120"/>
              </a:rPr>
              <a:t>One command deploys to one site, which is right. But nothing prevents the same command being looped across every site, and nothing records an intended rollout order. Site sequencing lives in people’s heads.</a:t>
            </a:r>
            <a:endParaRPr lang="en-US" sz="1250" dirty="0"/>
          </a:p>
        </p:txBody>
      </p:sp>
      <p:sp>
        <p:nvSpPr>
          <p:cNvPr id="7" name="Text 5"/>
          <p:cNvSpPr/>
          <p:nvPr/>
        </p:nvSpPr>
        <p:spPr>
          <a:xfrm>
            <a:off x="548640" y="2560320"/>
            <a:ext cx="5486400" cy="292608"/>
          </a:xfrm>
          <a:prstGeom prst="rect">
            <a:avLst/>
          </a:prstGeom>
          <a:noFill/>
          <a:ln/>
        </p:spPr>
        <p:txBody>
          <a:bodyPr wrap="square" lIns="0" tIns="0" rIns="0" bIns="0" rtlCol="0" anchor="ctr"/>
          <a:lstStyle/>
          <a:p>
            <a:pPr indent="0" marL="0">
              <a:buNone/>
            </a:pPr>
            <a:r>
              <a:rPr lang="en-US" sz="1600" b="1" dirty="0">
                <a:solidFill>
                  <a:srgbClr val="1F3A68"/>
                </a:solidFill>
                <a:latin typeface="Arial" pitchFamily="34" charset="0"/>
                <a:ea typeface="Arial" pitchFamily="34" charset="-122"/>
                <a:cs typeface="Arial" pitchFamily="34" charset="-120"/>
              </a:rPr>
              <a:t>Proposed rollout model</a:t>
            </a:r>
            <a:endParaRPr lang="en-US" sz="1600" dirty="0"/>
          </a:p>
        </p:txBody>
      </p:sp>
      <p:sp>
        <p:nvSpPr>
          <p:cNvPr id="8" name="Shape 6"/>
          <p:cNvSpPr/>
          <p:nvPr/>
        </p:nvSpPr>
        <p:spPr>
          <a:xfrm>
            <a:off x="548640" y="2971800"/>
            <a:ext cx="3483864" cy="1737360"/>
          </a:xfrm>
          <a:prstGeom prst="roundRect">
            <a:avLst>
              <a:gd name="adj" fmla="val 2632"/>
            </a:avLst>
          </a:prstGeom>
          <a:solidFill>
            <a:srgbClr val="FFFFFF"/>
          </a:solidFill>
          <a:ln w="25400">
            <a:solidFill>
              <a:srgbClr val="0093D0"/>
            </a:solidFill>
            <a:prstDash val="solid"/>
          </a:ln>
        </p:spPr>
      </p:sp>
      <p:sp>
        <p:nvSpPr>
          <p:cNvPr id="9" name="Text 7"/>
          <p:cNvSpPr/>
          <p:nvPr/>
        </p:nvSpPr>
        <p:spPr>
          <a:xfrm>
            <a:off x="731520" y="3108960"/>
            <a:ext cx="1463040" cy="274320"/>
          </a:xfrm>
          <a:prstGeom prst="rect">
            <a:avLst/>
          </a:prstGeom>
          <a:noFill/>
          <a:ln/>
        </p:spPr>
        <p:txBody>
          <a:bodyPr wrap="square" lIns="0" tIns="0" rIns="0" bIns="0" rtlCol="0" anchor="ctr"/>
          <a:lstStyle/>
          <a:p>
            <a:pPr indent="0" marL="0">
              <a:buNone/>
            </a:pPr>
            <a:r>
              <a:rPr lang="en-US" sz="1200" b="1" dirty="0">
                <a:solidFill>
                  <a:srgbClr val="0093D0"/>
                </a:solidFill>
                <a:latin typeface="Arial" pitchFamily="34" charset="0"/>
                <a:ea typeface="Arial" pitchFamily="34" charset="-122"/>
                <a:cs typeface="Arial" pitchFamily="34" charset="-120"/>
              </a:rPr>
              <a:t>Wave 0</a:t>
            </a:r>
            <a:endParaRPr lang="en-US" sz="1200" dirty="0"/>
          </a:p>
        </p:txBody>
      </p:sp>
      <p:sp>
        <p:nvSpPr>
          <p:cNvPr id="10" name="Text 8"/>
          <p:cNvSpPr/>
          <p:nvPr/>
        </p:nvSpPr>
        <p:spPr>
          <a:xfrm>
            <a:off x="2286000" y="3108960"/>
            <a:ext cx="1554480" cy="274320"/>
          </a:xfrm>
          <a:prstGeom prst="rect">
            <a:avLst/>
          </a:prstGeom>
          <a:noFill/>
          <a:ln/>
        </p:spPr>
        <p:txBody>
          <a:bodyPr wrap="square" lIns="0" tIns="0" rIns="0" bIns="0" rtlCol="0" anchor="ctr"/>
          <a:lstStyle/>
          <a:p>
            <a:pPr algn="r" indent="0" marL="0">
              <a:buNone/>
            </a:pPr>
            <a:r>
              <a:rPr lang="en-US" sz="1100" dirty="0">
                <a:solidFill>
                  <a:srgbClr val="5A6470"/>
                </a:solidFill>
                <a:latin typeface="Arial" pitchFamily="34" charset="0"/>
                <a:ea typeface="Arial" pitchFamily="34" charset="-122"/>
                <a:cs typeface="Arial" pitchFamily="34" charset="-120"/>
              </a:rPr>
              <a:t>1 site</a:t>
            </a:r>
            <a:endParaRPr lang="en-US" sz="1100" dirty="0"/>
          </a:p>
        </p:txBody>
      </p:sp>
      <p:sp>
        <p:nvSpPr>
          <p:cNvPr id="11" name="Text 9"/>
          <p:cNvSpPr/>
          <p:nvPr/>
        </p:nvSpPr>
        <p:spPr>
          <a:xfrm>
            <a:off x="731520" y="3401568"/>
            <a:ext cx="3108960" cy="292608"/>
          </a:xfrm>
          <a:prstGeom prst="rect">
            <a:avLst/>
          </a:prstGeom>
          <a:noFill/>
          <a:ln/>
        </p:spPr>
        <p:txBody>
          <a:bodyPr wrap="square" lIns="0" tIns="0" rIns="0" bIns="0" rtlCol="0" anchor="ctr"/>
          <a:lstStyle/>
          <a:p>
            <a:pPr indent="0" marL="0">
              <a:buNone/>
            </a:pPr>
            <a:r>
              <a:rPr lang="en-US" sz="1500" b="1" dirty="0">
                <a:solidFill>
                  <a:srgbClr val="1F3A68"/>
                </a:solidFill>
                <a:latin typeface="Arial" pitchFamily="34" charset="0"/>
                <a:ea typeface="Arial" pitchFamily="34" charset="-122"/>
                <a:cs typeface="Arial" pitchFamily="34" charset="-120"/>
              </a:rPr>
              <a:t>Pilot</a:t>
            </a:r>
            <a:endParaRPr lang="en-US" sz="1500" dirty="0"/>
          </a:p>
        </p:txBody>
      </p:sp>
      <p:sp>
        <p:nvSpPr>
          <p:cNvPr id="12" name="Text 10"/>
          <p:cNvSpPr/>
          <p:nvPr/>
        </p:nvSpPr>
        <p:spPr>
          <a:xfrm>
            <a:off x="731520" y="3749040"/>
            <a:ext cx="3108960" cy="822960"/>
          </a:xfrm>
          <a:prstGeom prst="rect">
            <a:avLst/>
          </a:prstGeom>
          <a:noFill/>
          <a:ln/>
        </p:spPr>
        <p:txBody>
          <a:bodyPr wrap="square" lIns="0" tIns="0" rIns="0" bIns="0" rtlCol="0" anchor="ctr"/>
          <a:lstStyle/>
          <a:p>
            <a:pPr indent="0" marL="0">
              <a:buNone/>
            </a:pPr>
            <a:r>
              <a:rPr lang="en-US" sz="1100" dirty="0">
                <a:solidFill>
                  <a:srgbClr val="5A6470"/>
                </a:solidFill>
                <a:latin typeface="Arial" pitchFamily="34" charset="0"/>
                <a:ea typeface="Arial" pitchFamily="34" charset="-122"/>
                <a:cs typeface="Arial" pitchFamily="34" charset="-120"/>
              </a:rPr>
              <a:t>Validate the release in a real factory before any wider exposure</a:t>
            </a:r>
            <a:endParaRPr lang="en-US" sz="1100" dirty="0"/>
          </a:p>
        </p:txBody>
      </p:sp>
      <p:sp>
        <p:nvSpPr>
          <p:cNvPr id="13" name="Shape 11"/>
          <p:cNvSpPr/>
          <p:nvPr/>
        </p:nvSpPr>
        <p:spPr>
          <a:xfrm>
            <a:off x="4096512" y="3749040"/>
            <a:ext cx="201168" cy="182880"/>
          </a:xfrm>
          <a:prstGeom prst="rightArrow">
            <a:avLst/>
          </a:prstGeom>
          <a:solidFill>
            <a:srgbClr val="0093D0"/>
          </a:solidFill>
          <a:ln w="12700">
            <a:solidFill>
              <a:srgbClr val="0093D0"/>
            </a:solidFill>
            <a:prstDash val="solid"/>
          </a:ln>
        </p:spPr>
      </p:sp>
      <p:sp>
        <p:nvSpPr>
          <p:cNvPr id="14" name="Shape 12"/>
          <p:cNvSpPr/>
          <p:nvPr/>
        </p:nvSpPr>
        <p:spPr>
          <a:xfrm>
            <a:off x="4352544" y="2971800"/>
            <a:ext cx="3483864" cy="1737360"/>
          </a:xfrm>
          <a:prstGeom prst="roundRect">
            <a:avLst>
              <a:gd name="adj" fmla="val 2632"/>
            </a:avLst>
          </a:prstGeom>
          <a:solidFill>
            <a:srgbClr val="FFFFFF"/>
          </a:solidFill>
          <a:ln w="25400">
            <a:solidFill>
              <a:srgbClr val="0093D0"/>
            </a:solidFill>
            <a:prstDash val="solid"/>
          </a:ln>
        </p:spPr>
      </p:sp>
      <p:sp>
        <p:nvSpPr>
          <p:cNvPr id="15" name="Text 13"/>
          <p:cNvSpPr/>
          <p:nvPr/>
        </p:nvSpPr>
        <p:spPr>
          <a:xfrm>
            <a:off x="4535424" y="3108960"/>
            <a:ext cx="1463040" cy="274320"/>
          </a:xfrm>
          <a:prstGeom prst="rect">
            <a:avLst/>
          </a:prstGeom>
          <a:noFill/>
          <a:ln/>
        </p:spPr>
        <p:txBody>
          <a:bodyPr wrap="square" lIns="0" tIns="0" rIns="0" bIns="0" rtlCol="0" anchor="ctr"/>
          <a:lstStyle/>
          <a:p>
            <a:pPr indent="0" marL="0">
              <a:buNone/>
            </a:pPr>
            <a:r>
              <a:rPr lang="en-US" sz="1200" b="1" dirty="0">
                <a:solidFill>
                  <a:srgbClr val="0093D0"/>
                </a:solidFill>
                <a:latin typeface="Arial" pitchFamily="34" charset="0"/>
                <a:ea typeface="Arial" pitchFamily="34" charset="-122"/>
                <a:cs typeface="Arial" pitchFamily="34" charset="-120"/>
              </a:rPr>
              <a:t>Wave 1</a:t>
            </a:r>
            <a:endParaRPr lang="en-US" sz="1200" dirty="0"/>
          </a:p>
        </p:txBody>
      </p:sp>
      <p:sp>
        <p:nvSpPr>
          <p:cNvPr id="16" name="Text 14"/>
          <p:cNvSpPr/>
          <p:nvPr/>
        </p:nvSpPr>
        <p:spPr>
          <a:xfrm>
            <a:off x="6089904" y="3108960"/>
            <a:ext cx="1554480" cy="274320"/>
          </a:xfrm>
          <a:prstGeom prst="rect">
            <a:avLst/>
          </a:prstGeom>
          <a:noFill/>
          <a:ln/>
        </p:spPr>
        <p:txBody>
          <a:bodyPr wrap="square" lIns="0" tIns="0" rIns="0" bIns="0" rtlCol="0" anchor="ctr"/>
          <a:lstStyle/>
          <a:p>
            <a:pPr algn="r" indent="0" marL="0">
              <a:buNone/>
            </a:pPr>
            <a:r>
              <a:rPr lang="en-US" sz="1100" dirty="0">
                <a:solidFill>
                  <a:srgbClr val="5A6470"/>
                </a:solidFill>
                <a:latin typeface="Arial" pitchFamily="34" charset="0"/>
                <a:ea typeface="Arial" pitchFamily="34" charset="-122"/>
                <a:cs typeface="Arial" pitchFamily="34" charset="-120"/>
              </a:rPr>
              <a:t>2–3 sites</a:t>
            </a:r>
            <a:endParaRPr lang="en-US" sz="1100" dirty="0"/>
          </a:p>
        </p:txBody>
      </p:sp>
      <p:sp>
        <p:nvSpPr>
          <p:cNvPr id="17" name="Text 15"/>
          <p:cNvSpPr/>
          <p:nvPr/>
        </p:nvSpPr>
        <p:spPr>
          <a:xfrm>
            <a:off x="4535424" y="3401568"/>
            <a:ext cx="3108960" cy="292608"/>
          </a:xfrm>
          <a:prstGeom prst="rect">
            <a:avLst/>
          </a:prstGeom>
          <a:noFill/>
          <a:ln/>
        </p:spPr>
        <p:txBody>
          <a:bodyPr wrap="square" lIns="0" tIns="0" rIns="0" bIns="0" rtlCol="0" anchor="ctr"/>
          <a:lstStyle/>
          <a:p>
            <a:pPr indent="0" marL="0">
              <a:buNone/>
            </a:pPr>
            <a:r>
              <a:rPr lang="en-US" sz="1500" b="1" dirty="0">
                <a:solidFill>
                  <a:srgbClr val="1F3A68"/>
                </a:solidFill>
                <a:latin typeface="Arial" pitchFamily="34" charset="0"/>
                <a:ea typeface="Arial" pitchFamily="34" charset="-122"/>
                <a:cs typeface="Arial" pitchFamily="34" charset="-120"/>
              </a:rPr>
              <a:t>Early</a:t>
            </a:r>
            <a:endParaRPr lang="en-US" sz="1500" dirty="0"/>
          </a:p>
        </p:txBody>
      </p:sp>
      <p:sp>
        <p:nvSpPr>
          <p:cNvPr id="18" name="Text 16"/>
          <p:cNvSpPr/>
          <p:nvPr/>
        </p:nvSpPr>
        <p:spPr>
          <a:xfrm>
            <a:off x="4535424" y="3749040"/>
            <a:ext cx="3108960" cy="822960"/>
          </a:xfrm>
          <a:prstGeom prst="rect">
            <a:avLst/>
          </a:prstGeom>
          <a:noFill/>
          <a:ln/>
        </p:spPr>
        <p:txBody>
          <a:bodyPr wrap="square" lIns="0" tIns="0" rIns="0" bIns="0" rtlCol="0" anchor="ctr"/>
          <a:lstStyle/>
          <a:p>
            <a:pPr indent="0" marL="0">
              <a:buNone/>
            </a:pPr>
            <a:r>
              <a:rPr lang="en-US" sz="1100" dirty="0">
                <a:solidFill>
                  <a:srgbClr val="5A6470"/>
                </a:solidFill>
                <a:latin typeface="Arial" pitchFamily="34" charset="0"/>
                <a:ea typeface="Arial" pitchFamily="34" charset="-122"/>
                <a:cs typeface="Arial" pitchFamily="34" charset="-120"/>
              </a:rPr>
              <a:t>Confirm across differing site configurations</a:t>
            </a:r>
            <a:endParaRPr lang="en-US" sz="1100" dirty="0"/>
          </a:p>
        </p:txBody>
      </p:sp>
      <p:sp>
        <p:nvSpPr>
          <p:cNvPr id="19" name="Shape 17"/>
          <p:cNvSpPr/>
          <p:nvPr/>
        </p:nvSpPr>
        <p:spPr>
          <a:xfrm>
            <a:off x="7900416" y="3749040"/>
            <a:ext cx="201168" cy="182880"/>
          </a:xfrm>
          <a:prstGeom prst="rightArrow">
            <a:avLst/>
          </a:prstGeom>
          <a:solidFill>
            <a:srgbClr val="0093D0"/>
          </a:solidFill>
          <a:ln w="12700">
            <a:solidFill>
              <a:srgbClr val="0093D0"/>
            </a:solidFill>
            <a:prstDash val="solid"/>
          </a:ln>
        </p:spPr>
      </p:sp>
      <p:sp>
        <p:nvSpPr>
          <p:cNvPr id="20" name="Shape 18"/>
          <p:cNvSpPr/>
          <p:nvPr/>
        </p:nvSpPr>
        <p:spPr>
          <a:xfrm>
            <a:off x="8156448" y="2971800"/>
            <a:ext cx="3483864" cy="1737360"/>
          </a:xfrm>
          <a:prstGeom prst="roundRect">
            <a:avLst>
              <a:gd name="adj" fmla="val 2632"/>
            </a:avLst>
          </a:prstGeom>
          <a:solidFill>
            <a:srgbClr val="FFFFFF"/>
          </a:solidFill>
          <a:ln w="25400">
            <a:solidFill>
              <a:srgbClr val="2E7D4F"/>
            </a:solidFill>
            <a:prstDash val="solid"/>
          </a:ln>
        </p:spPr>
      </p:sp>
      <p:sp>
        <p:nvSpPr>
          <p:cNvPr id="21" name="Text 19"/>
          <p:cNvSpPr/>
          <p:nvPr/>
        </p:nvSpPr>
        <p:spPr>
          <a:xfrm>
            <a:off x="8339328" y="3108960"/>
            <a:ext cx="1463040" cy="274320"/>
          </a:xfrm>
          <a:prstGeom prst="rect">
            <a:avLst/>
          </a:prstGeom>
          <a:noFill/>
          <a:ln/>
        </p:spPr>
        <p:txBody>
          <a:bodyPr wrap="square" lIns="0" tIns="0" rIns="0" bIns="0" rtlCol="0" anchor="ctr"/>
          <a:lstStyle/>
          <a:p>
            <a:pPr indent="0" marL="0">
              <a:buNone/>
            </a:pPr>
            <a:r>
              <a:rPr lang="en-US" sz="1200" b="1" dirty="0">
                <a:solidFill>
                  <a:srgbClr val="2E7D4F"/>
                </a:solidFill>
                <a:latin typeface="Arial" pitchFamily="34" charset="0"/>
                <a:ea typeface="Arial" pitchFamily="34" charset="-122"/>
                <a:cs typeface="Arial" pitchFamily="34" charset="-120"/>
              </a:rPr>
              <a:t>Wave 2</a:t>
            </a:r>
            <a:endParaRPr lang="en-US" sz="1200" dirty="0"/>
          </a:p>
        </p:txBody>
      </p:sp>
      <p:sp>
        <p:nvSpPr>
          <p:cNvPr id="22" name="Text 20"/>
          <p:cNvSpPr/>
          <p:nvPr/>
        </p:nvSpPr>
        <p:spPr>
          <a:xfrm>
            <a:off x="9893808" y="3108960"/>
            <a:ext cx="1554480" cy="274320"/>
          </a:xfrm>
          <a:prstGeom prst="rect">
            <a:avLst/>
          </a:prstGeom>
          <a:noFill/>
          <a:ln/>
        </p:spPr>
        <p:txBody>
          <a:bodyPr wrap="square" lIns="0" tIns="0" rIns="0" bIns="0" rtlCol="0" anchor="ctr"/>
          <a:lstStyle/>
          <a:p>
            <a:pPr algn="r" indent="0" marL="0">
              <a:buNone/>
            </a:pPr>
            <a:r>
              <a:rPr lang="en-US" sz="1100" dirty="0">
                <a:solidFill>
                  <a:srgbClr val="5A6470"/>
                </a:solidFill>
                <a:latin typeface="Arial" pitchFamily="34" charset="0"/>
                <a:ea typeface="Arial" pitchFamily="34" charset="-122"/>
                <a:cs typeface="Arial" pitchFamily="34" charset="-120"/>
              </a:rPr>
              <a:t>remaining sites</a:t>
            </a:r>
            <a:endParaRPr lang="en-US" sz="1100" dirty="0"/>
          </a:p>
        </p:txBody>
      </p:sp>
      <p:sp>
        <p:nvSpPr>
          <p:cNvPr id="23" name="Text 21"/>
          <p:cNvSpPr/>
          <p:nvPr/>
        </p:nvSpPr>
        <p:spPr>
          <a:xfrm>
            <a:off x="8339328" y="3401568"/>
            <a:ext cx="3108960" cy="292608"/>
          </a:xfrm>
          <a:prstGeom prst="rect">
            <a:avLst/>
          </a:prstGeom>
          <a:noFill/>
          <a:ln/>
        </p:spPr>
        <p:txBody>
          <a:bodyPr wrap="square" lIns="0" tIns="0" rIns="0" bIns="0" rtlCol="0" anchor="ctr"/>
          <a:lstStyle/>
          <a:p>
            <a:pPr indent="0" marL="0">
              <a:buNone/>
            </a:pPr>
            <a:r>
              <a:rPr lang="en-US" sz="1500" b="1" dirty="0">
                <a:solidFill>
                  <a:srgbClr val="1F3A68"/>
                </a:solidFill>
                <a:latin typeface="Arial" pitchFamily="34" charset="0"/>
                <a:ea typeface="Arial" pitchFamily="34" charset="-122"/>
                <a:cs typeface="Arial" pitchFamily="34" charset="-120"/>
              </a:rPr>
              <a:t>Fleet</a:t>
            </a:r>
            <a:endParaRPr lang="en-US" sz="1500" dirty="0"/>
          </a:p>
        </p:txBody>
      </p:sp>
      <p:sp>
        <p:nvSpPr>
          <p:cNvPr id="24" name="Text 22"/>
          <p:cNvSpPr/>
          <p:nvPr/>
        </p:nvSpPr>
        <p:spPr>
          <a:xfrm>
            <a:off x="8339328" y="3749040"/>
            <a:ext cx="3108960" cy="822960"/>
          </a:xfrm>
          <a:prstGeom prst="rect">
            <a:avLst/>
          </a:prstGeom>
          <a:noFill/>
          <a:ln/>
        </p:spPr>
        <p:txBody>
          <a:bodyPr wrap="square" lIns="0" tIns="0" rIns="0" bIns="0" rtlCol="0" anchor="ctr"/>
          <a:lstStyle/>
          <a:p>
            <a:pPr indent="0" marL="0">
              <a:buNone/>
            </a:pPr>
            <a:r>
              <a:rPr lang="en-US" sz="1100" dirty="0">
                <a:solidFill>
                  <a:srgbClr val="5A6470"/>
                </a:solidFill>
                <a:latin typeface="Arial" pitchFamily="34" charset="0"/>
                <a:ea typeface="Arial" pitchFamily="34" charset="-122"/>
                <a:cs typeface="Arial" pitchFamily="34" charset="-120"/>
              </a:rPr>
              <a:t>Roll forward once the earlier waves are healthy</a:t>
            </a:r>
            <a:endParaRPr lang="en-US" sz="1100" dirty="0"/>
          </a:p>
        </p:txBody>
      </p:sp>
      <p:sp>
        <p:nvSpPr>
          <p:cNvPr id="25" name="Shape 23"/>
          <p:cNvSpPr/>
          <p:nvPr/>
        </p:nvSpPr>
        <p:spPr>
          <a:xfrm>
            <a:off x="548640" y="4892040"/>
            <a:ext cx="11091672" cy="1051560"/>
          </a:xfrm>
          <a:prstGeom prst="roundRect">
            <a:avLst>
              <a:gd name="adj" fmla="val 4348"/>
            </a:avLst>
          </a:prstGeom>
          <a:solidFill>
            <a:srgbClr val="E9F3EC"/>
          </a:solidFill>
          <a:ln w="19050">
            <a:solidFill>
              <a:srgbClr val="2E7D4F"/>
            </a:solidFill>
            <a:prstDash val="solid"/>
          </a:ln>
        </p:spPr>
      </p:sp>
      <p:sp>
        <p:nvSpPr>
          <p:cNvPr id="26" name="Text 24"/>
          <p:cNvSpPr/>
          <p:nvPr/>
        </p:nvSpPr>
        <p:spPr>
          <a:xfrm>
            <a:off x="777240" y="5029200"/>
            <a:ext cx="2011680" cy="274320"/>
          </a:xfrm>
          <a:prstGeom prst="rect">
            <a:avLst/>
          </a:prstGeom>
          <a:noFill/>
          <a:ln/>
        </p:spPr>
        <p:txBody>
          <a:bodyPr wrap="square" lIns="0" tIns="0" rIns="0" bIns="0" rtlCol="0" anchor="ctr"/>
          <a:lstStyle/>
          <a:p>
            <a:pPr indent="0" marL="0">
              <a:buNone/>
            </a:pPr>
            <a:r>
              <a:rPr lang="en-US" sz="1300" b="1" dirty="0">
                <a:solidFill>
                  <a:srgbClr val="2E7D4F"/>
                </a:solidFill>
                <a:latin typeface="Arial" pitchFamily="34" charset="0"/>
                <a:ea typeface="Arial" pitchFamily="34" charset="-122"/>
                <a:cs typeface="Arial" pitchFamily="34" charset="-120"/>
              </a:rPr>
              <a:t>How it is enforced</a:t>
            </a:r>
            <a:endParaRPr lang="en-US" sz="1300" dirty="0"/>
          </a:p>
        </p:txBody>
      </p:sp>
      <p:sp>
        <p:nvSpPr>
          <p:cNvPr id="27" name="Text 25"/>
          <p:cNvSpPr/>
          <p:nvPr/>
        </p:nvSpPr>
        <p:spPr>
          <a:xfrm>
            <a:off x="2834640" y="5029200"/>
            <a:ext cx="8595360" cy="822960"/>
          </a:xfrm>
          <a:prstGeom prst="rect">
            <a:avLst/>
          </a:prstGeom>
          <a:noFill/>
          <a:ln/>
        </p:spPr>
        <p:txBody>
          <a:bodyPr wrap="square" lIns="0" tIns="0" rIns="0" bIns="0" rtlCol="0" anchor="ctr"/>
          <a:lstStyle/>
          <a:p>
            <a:pPr indent="0" marL="0">
              <a:buNone/>
            </a:pPr>
            <a:r>
              <a:rPr lang="en-US" sz="1250" dirty="0">
                <a:solidFill>
                  <a:srgbClr val="5A6470"/>
                </a:solidFill>
                <a:latin typeface="Arial" pitchFamily="34" charset="0"/>
                <a:ea typeface="Arial" pitchFamily="34" charset="-122"/>
                <a:cs typeface="Arial" pitchFamily="34" charset="-120"/>
              </a:rPr>
              <a:t>The deploy step checks two preconditions before touching the branch: the release state is “approved”, and the target site belongs to a currently authorised wave. One site per invocation, enforced rather than assumed.</a:t>
            </a:r>
            <a:endParaRPr lang="en-US" sz="1250" dirty="0"/>
          </a:p>
        </p:txBody>
      </p:sp>
      <p:sp>
        <p:nvSpPr>
          <p:cNvPr id="28" name="Text 26"/>
          <p:cNvSpPr/>
          <p:nvPr/>
        </p:nvSpPr>
        <p:spPr>
          <a:xfrm>
            <a:off x="548640" y="6080760"/>
            <a:ext cx="11091672" cy="320040"/>
          </a:xfrm>
          <a:prstGeom prst="rect">
            <a:avLst/>
          </a:prstGeom>
          <a:noFill/>
          <a:ln/>
        </p:spPr>
        <p:txBody>
          <a:bodyPr wrap="square" lIns="0" tIns="0" rIns="0" bIns="0" rtlCol="0" anchor="ctr"/>
          <a:lstStyle/>
          <a:p>
            <a:pPr indent="0" marL="0">
              <a:buNone/>
            </a:pPr>
            <a:r>
              <a:rPr lang="en-US" sz="1200" b="1" dirty="0">
                <a:solidFill>
                  <a:srgbClr val="1F3A68"/>
                </a:solidFill>
                <a:latin typeface="Arial" pitchFamily="34" charset="0"/>
                <a:ea typeface="Arial" pitchFamily="34" charset="-122"/>
                <a:cs typeface="Arial" pitchFamily="34" charset="-120"/>
              </a:rPr>
              <a:t>Waves are a policy, not new tooling — the mechanism is a precondition check in the existing deploy command.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0040"/>
            <a:ext cx="11091672" cy="502920"/>
          </a:xfrm>
          <a:prstGeom prst="rect">
            <a:avLst/>
          </a:prstGeom>
          <a:noFill/>
          <a:ln/>
        </p:spPr>
        <p:txBody>
          <a:bodyPr wrap="square" lIns="0" tIns="0" rIns="0" bIns="0" rtlCol="0" anchor="ctr"/>
          <a:lstStyle/>
          <a:p>
            <a:pPr indent="0" marL="0">
              <a:buNone/>
            </a:pPr>
            <a:r>
              <a:rPr lang="en-US" sz="3000" b="1" dirty="0">
                <a:solidFill>
                  <a:srgbClr val="1F3A68"/>
                </a:solidFill>
                <a:latin typeface="Arial" pitchFamily="34" charset="0"/>
                <a:ea typeface="Arial" pitchFamily="34" charset="-122"/>
                <a:cs typeface="Arial" pitchFamily="34" charset="-120"/>
              </a:rPr>
              <a:t>6 &amp; 7.  Protected branches and deployment preview</a:t>
            </a:r>
            <a:endParaRPr lang="en-US" sz="3000" dirty="0"/>
          </a:p>
        </p:txBody>
      </p:sp>
      <p:sp>
        <p:nvSpPr>
          <p:cNvPr id="3" name="Text 1"/>
          <p:cNvSpPr/>
          <p:nvPr/>
        </p:nvSpPr>
        <p:spPr>
          <a:xfrm>
            <a:off x="548640" y="868680"/>
            <a:ext cx="11091672" cy="320040"/>
          </a:xfrm>
          <a:prstGeom prst="rect">
            <a:avLst/>
          </a:prstGeom>
          <a:noFill/>
          <a:ln/>
        </p:spPr>
        <p:txBody>
          <a:bodyPr wrap="square" lIns="0" tIns="0" rIns="0" bIns="0" rtlCol="0" anchor="ctr"/>
          <a:lstStyle/>
          <a:p>
            <a:pPr indent="0" marL="0">
              <a:buNone/>
            </a:pPr>
            <a:r>
              <a:rPr lang="en-US" sz="1400" i="1" dirty="0">
                <a:solidFill>
                  <a:srgbClr val="5A6470"/>
                </a:solidFill>
                <a:latin typeface="Arial" pitchFamily="34" charset="0"/>
                <a:ea typeface="Arial" pitchFamily="34" charset="-122"/>
                <a:cs typeface="Arial" pitchFamily="34" charset="-120"/>
              </a:rPr>
              <a:t>Make the audit trail trustworthy, and let the operator see the change first</a:t>
            </a:r>
            <a:endParaRPr lang="en-US" sz="1400" dirty="0"/>
          </a:p>
        </p:txBody>
      </p:sp>
      <p:sp>
        <p:nvSpPr>
          <p:cNvPr id="4" name="Shape 2"/>
          <p:cNvSpPr/>
          <p:nvPr/>
        </p:nvSpPr>
        <p:spPr>
          <a:xfrm>
            <a:off x="548640" y="1325880"/>
            <a:ext cx="5440680" cy="4297680"/>
          </a:xfrm>
          <a:prstGeom prst="roundRect">
            <a:avLst>
              <a:gd name="adj" fmla="val 1064"/>
            </a:avLst>
          </a:prstGeom>
          <a:solidFill>
            <a:srgbClr val="FFFFFF"/>
          </a:solidFill>
          <a:ln w="19050">
            <a:solidFill>
              <a:srgbClr val="D6B656"/>
            </a:solidFill>
            <a:prstDash val="solid"/>
          </a:ln>
        </p:spPr>
      </p:sp>
      <p:sp>
        <p:nvSpPr>
          <p:cNvPr id="5" name="Shape 3"/>
          <p:cNvSpPr/>
          <p:nvPr/>
        </p:nvSpPr>
        <p:spPr>
          <a:xfrm>
            <a:off x="777240" y="1508760"/>
            <a:ext cx="960120" cy="274320"/>
          </a:xfrm>
          <a:prstGeom prst="roundRect">
            <a:avLst>
              <a:gd name="adj" fmla="val 33333"/>
            </a:avLst>
          </a:prstGeom>
          <a:solidFill>
            <a:srgbClr val="FFF2CC"/>
          </a:solidFill>
          <a:ln w="12700">
            <a:solidFill>
              <a:srgbClr val="D6B656"/>
            </a:solidFill>
            <a:prstDash val="solid"/>
          </a:ln>
        </p:spPr>
      </p:sp>
      <p:sp>
        <p:nvSpPr>
          <p:cNvPr id="6" name="Text 4"/>
          <p:cNvSpPr/>
          <p:nvPr/>
        </p:nvSpPr>
        <p:spPr>
          <a:xfrm>
            <a:off x="777240" y="1508760"/>
            <a:ext cx="960120" cy="274320"/>
          </a:xfrm>
          <a:prstGeom prst="rect">
            <a:avLst/>
          </a:prstGeom>
          <a:noFill/>
          <a:ln/>
        </p:spPr>
        <p:txBody>
          <a:bodyPr wrap="square" lIns="0" tIns="0" rIns="0" bIns="0" rtlCol="0" anchor="ctr"/>
          <a:lstStyle/>
          <a:p>
            <a:pPr algn="ctr" indent="0" marL="0">
              <a:buNone/>
            </a:pPr>
            <a:r>
              <a:rPr lang="en-US" sz="1000" b="1" dirty="0">
                <a:solidFill>
                  <a:srgbClr val="8A6D1F"/>
                </a:solidFill>
                <a:latin typeface="Arial" pitchFamily="34" charset="0"/>
                <a:ea typeface="Arial" pitchFamily="34" charset="-122"/>
                <a:cs typeface="Arial" pitchFamily="34" charset="-120"/>
              </a:rPr>
              <a:t>CHANGED</a:t>
            </a:r>
            <a:endParaRPr lang="en-US" sz="1000" dirty="0"/>
          </a:p>
        </p:txBody>
      </p:sp>
      <p:sp>
        <p:nvSpPr>
          <p:cNvPr id="7" name="Text 5"/>
          <p:cNvSpPr/>
          <p:nvPr/>
        </p:nvSpPr>
        <p:spPr>
          <a:xfrm>
            <a:off x="1920240" y="1508760"/>
            <a:ext cx="3840480" cy="274320"/>
          </a:xfrm>
          <a:prstGeom prst="rect">
            <a:avLst/>
          </a:prstGeom>
          <a:noFill/>
          <a:ln/>
        </p:spPr>
        <p:txBody>
          <a:bodyPr wrap="square" lIns="0" tIns="0" rIns="0" bIns="0" rtlCol="0" anchor="ctr"/>
          <a:lstStyle/>
          <a:p>
            <a:pPr indent="0" marL="0">
              <a:buNone/>
            </a:pPr>
            <a:r>
              <a:rPr lang="en-US" sz="1500" b="1" dirty="0">
                <a:solidFill>
                  <a:srgbClr val="1F3A68"/>
                </a:solidFill>
                <a:latin typeface="Arial" pitchFamily="34" charset="0"/>
                <a:ea typeface="Arial" pitchFamily="34" charset="-122"/>
                <a:cs typeface="Arial" pitchFamily="34" charset="-120"/>
              </a:rPr>
              <a:t>Protected site branches</a:t>
            </a:r>
            <a:endParaRPr lang="en-US" sz="1500" dirty="0"/>
          </a:p>
        </p:txBody>
      </p:sp>
      <p:sp>
        <p:nvSpPr>
          <p:cNvPr id="8" name="Text 6"/>
          <p:cNvSpPr/>
          <p:nvPr/>
        </p:nvSpPr>
        <p:spPr>
          <a:xfrm>
            <a:off x="822960" y="2011680"/>
            <a:ext cx="4937760" cy="3383280"/>
          </a:xfrm>
          <a:prstGeom prst="rect">
            <a:avLst/>
          </a:prstGeom>
          <a:noFill/>
          <a:ln/>
        </p:spPr>
        <p:txBody>
          <a:bodyPr wrap="square" lIns="0" tIns="0" rIns="0" bIns="0" rtlCol="0" anchor="ctr"/>
          <a:lstStyle/>
          <a:p>
            <a:pPr marL="342900" indent="-342900">
              <a:spcAft>
                <a:spcPts val="1000"/>
              </a:spcAft>
              <a:buSzPct val="100000"/>
              <a:buChar char="•"/>
            </a:pPr>
            <a:r>
              <a:rPr lang="en-US" sz="1200" dirty="0">
                <a:solidFill>
                  <a:srgbClr val="5A6470"/>
                </a:solidFill>
                <a:latin typeface="Arial" pitchFamily="34" charset="0"/>
                <a:ea typeface="Arial" pitchFamily="34" charset="-122"/>
                <a:cs typeface="Arial" pitchFamily="34" charset="-120"/>
              </a:rPr>
              <a:t>ArgoCD applies whatever is on the site branch. Nothing currently prevents a direct push.</a:t>
            </a:r>
            <a:endParaRPr lang="en-US" sz="1200" dirty="0"/>
          </a:p>
          <a:p>
            <a:pPr marL="342900" indent="-342900">
              <a:spcAft>
                <a:spcPts val="1000"/>
              </a:spcAft>
              <a:buSzPct val="100000"/>
              <a:buChar char="•"/>
            </a:pPr>
            <a:r>
              <a:rPr lang="en-US" sz="1200" dirty="0">
                <a:solidFill>
                  <a:srgbClr val="5A6470"/>
                </a:solidFill>
                <a:latin typeface="Arial" pitchFamily="34" charset="0"/>
                <a:ea typeface="Arial" pitchFamily="34" charset="-122"/>
                <a:cs typeface="Arial" pitchFamily="34" charset="-120"/>
              </a:rPr>
              <a:t>Accept commits only from the Deploy Tool identity. No direct pushes, no force-push.</a:t>
            </a:r>
            <a:endParaRPr lang="en-US" sz="1200" dirty="0"/>
          </a:p>
          <a:p>
            <a:pPr marL="342900" indent="-342900">
              <a:spcAft>
                <a:spcPts val="1000"/>
              </a:spcAft>
              <a:buSzPct val="100000"/>
              <a:buChar char="•"/>
            </a:pPr>
            <a:r>
              <a:rPr lang="en-US" sz="1200" dirty="0">
                <a:solidFill>
                  <a:srgbClr val="5A6470"/>
                </a:solidFill>
                <a:latin typeface="Arial" pitchFamily="34" charset="0"/>
                <a:ea typeface="Arial" pitchFamily="34" charset="-122"/>
                <a:cs typeface="Arial" pitchFamily="34" charset="-120"/>
              </a:rPr>
              <a:t>Without this, every gate can be bypassed by editing the branch, and the commit history stops being evidence of what was approved.</a:t>
            </a:r>
            <a:endParaRPr lang="en-US" sz="1200" dirty="0"/>
          </a:p>
          <a:p>
            <a:pPr marL="342900" indent="-342900">
              <a:spcAft>
                <a:spcPts val="1000"/>
              </a:spcAft>
              <a:buSzPct val="100000"/>
              <a:buChar char="•"/>
            </a:pPr>
            <a:r>
              <a:rPr lang="en-US" sz="1200" dirty="0">
                <a:solidFill>
                  <a:srgbClr val="5A6470"/>
                </a:solidFill>
                <a:latin typeface="Arial" pitchFamily="34" charset="0"/>
                <a:ea typeface="Arial" pitchFamily="34" charset="-122"/>
                <a:cs typeface="Arial" pitchFamily="34" charset="-120"/>
              </a:rPr>
              <a:t>This is the control that makes Git the authoritative release history rather than merely the usual route.</a:t>
            </a:r>
            <a:endParaRPr lang="en-US" sz="1200" dirty="0"/>
          </a:p>
        </p:txBody>
      </p:sp>
      <p:sp>
        <p:nvSpPr>
          <p:cNvPr id="9" name="Shape 7"/>
          <p:cNvSpPr/>
          <p:nvPr/>
        </p:nvSpPr>
        <p:spPr>
          <a:xfrm>
            <a:off x="6199632" y="1325880"/>
            <a:ext cx="5440680" cy="4297680"/>
          </a:xfrm>
          <a:prstGeom prst="roundRect">
            <a:avLst>
              <a:gd name="adj" fmla="val 1064"/>
            </a:avLst>
          </a:prstGeom>
          <a:solidFill>
            <a:srgbClr val="FFFFFF"/>
          </a:solidFill>
          <a:ln w="19050">
            <a:solidFill>
              <a:srgbClr val="2E7D4F"/>
            </a:solidFill>
            <a:prstDash val="solid"/>
          </a:ln>
        </p:spPr>
      </p:sp>
      <p:sp>
        <p:nvSpPr>
          <p:cNvPr id="10" name="Shape 8"/>
          <p:cNvSpPr/>
          <p:nvPr/>
        </p:nvSpPr>
        <p:spPr>
          <a:xfrm>
            <a:off x="6428232" y="1508760"/>
            <a:ext cx="960120" cy="274320"/>
          </a:xfrm>
          <a:prstGeom prst="roundRect">
            <a:avLst>
              <a:gd name="adj" fmla="val 33333"/>
            </a:avLst>
          </a:prstGeom>
          <a:solidFill>
            <a:srgbClr val="E9F3EC"/>
          </a:solidFill>
          <a:ln w="12700">
            <a:solidFill>
              <a:srgbClr val="2E7D4F"/>
            </a:solidFill>
            <a:prstDash val="solid"/>
          </a:ln>
        </p:spPr>
      </p:sp>
      <p:sp>
        <p:nvSpPr>
          <p:cNvPr id="11" name="Text 9"/>
          <p:cNvSpPr/>
          <p:nvPr/>
        </p:nvSpPr>
        <p:spPr>
          <a:xfrm>
            <a:off x="6428232" y="1508760"/>
            <a:ext cx="960120" cy="274320"/>
          </a:xfrm>
          <a:prstGeom prst="rect">
            <a:avLst/>
          </a:prstGeom>
          <a:noFill/>
          <a:ln/>
        </p:spPr>
        <p:txBody>
          <a:bodyPr wrap="square" lIns="0" tIns="0" rIns="0" bIns="0" rtlCol="0" anchor="ctr"/>
          <a:lstStyle/>
          <a:p>
            <a:pPr algn="ctr" indent="0" marL="0">
              <a:buNone/>
            </a:pPr>
            <a:r>
              <a:rPr lang="en-US" sz="1000" b="1" dirty="0">
                <a:solidFill>
                  <a:srgbClr val="2E7D4F"/>
                </a:solidFill>
                <a:latin typeface="Arial" pitchFamily="34" charset="0"/>
                <a:ea typeface="Arial" pitchFamily="34" charset="-122"/>
                <a:cs typeface="Arial" pitchFamily="34" charset="-120"/>
              </a:rPr>
              <a:t>NEW</a:t>
            </a:r>
            <a:endParaRPr lang="en-US" sz="1000" dirty="0"/>
          </a:p>
        </p:txBody>
      </p:sp>
      <p:sp>
        <p:nvSpPr>
          <p:cNvPr id="12" name="Text 10"/>
          <p:cNvSpPr/>
          <p:nvPr/>
        </p:nvSpPr>
        <p:spPr>
          <a:xfrm>
            <a:off x="7571232" y="1508760"/>
            <a:ext cx="3931920" cy="274320"/>
          </a:xfrm>
          <a:prstGeom prst="rect">
            <a:avLst/>
          </a:prstGeom>
          <a:noFill/>
          <a:ln/>
        </p:spPr>
        <p:txBody>
          <a:bodyPr wrap="square" lIns="0" tIns="0" rIns="0" bIns="0" rtlCol="0" anchor="ctr"/>
          <a:lstStyle/>
          <a:p>
            <a:pPr indent="0" marL="0">
              <a:buNone/>
            </a:pPr>
            <a:r>
              <a:rPr lang="en-US" sz="1500" b="1" dirty="0">
                <a:solidFill>
                  <a:srgbClr val="1F3A68"/>
                </a:solidFill>
                <a:latin typeface="Arial" pitchFamily="34" charset="0"/>
                <a:ea typeface="Arial" pitchFamily="34" charset="-122"/>
                <a:cs typeface="Arial" pitchFamily="34" charset="-120"/>
              </a:rPr>
              <a:t>Deployment preview</a:t>
            </a:r>
            <a:endParaRPr lang="en-US" sz="1500" dirty="0"/>
          </a:p>
        </p:txBody>
      </p:sp>
      <p:sp>
        <p:nvSpPr>
          <p:cNvPr id="13" name="Text 11"/>
          <p:cNvSpPr/>
          <p:nvPr/>
        </p:nvSpPr>
        <p:spPr>
          <a:xfrm>
            <a:off x="6473952" y="2011680"/>
            <a:ext cx="4937760" cy="3383280"/>
          </a:xfrm>
          <a:prstGeom prst="rect">
            <a:avLst/>
          </a:prstGeom>
          <a:noFill/>
          <a:ln/>
        </p:spPr>
        <p:txBody>
          <a:bodyPr wrap="square" lIns="0" tIns="0" rIns="0" bIns="0" rtlCol="0" anchor="ctr"/>
          <a:lstStyle/>
          <a:p>
            <a:pPr marL="342900" indent="-342900">
              <a:spcAft>
                <a:spcPts val="1000"/>
              </a:spcAft>
              <a:buSzPct val="100000"/>
              <a:buChar char="•"/>
            </a:pPr>
            <a:r>
              <a:rPr lang="en-US" sz="1200" dirty="0">
                <a:solidFill>
                  <a:srgbClr val="5A6470"/>
                </a:solidFill>
                <a:latin typeface="Arial" pitchFamily="34" charset="0"/>
                <a:ea typeface="Arial" pitchFamily="34" charset="-122"/>
                <a:cs typeface="Arial" pitchFamily="34" charset="-120"/>
              </a:rPr>
              <a:t>The deploy step already prepares and renders all branch changes in memory before committing.</a:t>
            </a:r>
            <a:endParaRPr lang="en-US" sz="1200" dirty="0"/>
          </a:p>
          <a:p>
            <a:pPr marL="342900" indent="-342900">
              <a:spcAft>
                <a:spcPts val="1000"/>
              </a:spcAft>
              <a:buSzPct val="100000"/>
              <a:buChar char="•"/>
            </a:pPr>
            <a:r>
              <a:rPr lang="en-US" sz="1200" dirty="0">
                <a:solidFill>
                  <a:srgbClr val="5A6470"/>
                </a:solidFill>
                <a:latin typeface="Arial" pitchFamily="34" charset="0"/>
                <a:ea typeface="Arial" pitchFamily="34" charset="-122"/>
                <a:cs typeface="Arial" pitchFamily="34" charset="-120"/>
              </a:rPr>
              <a:t>Show that rendered diff to the operator before anything is pushed: which images change, from which version to which, and what the site moves from and to.</a:t>
            </a:r>
            <a:endParaRPr lang="en-US" sz="1200" dirty="0"/>
          </a:p>
          <a:p>
            <a:pPr marL="342900" indent="-342900">
              <a:spcAft>
                <a:spcPts val="1000"/>
              </a:spcAft>
              <a:buSzPct val="100000"/>
              <a:buChar char="•"/>
            </a:pPr>
            <a:r>
              <a:rPr lang="en-US" sz="1200" dirty="0">
                <a:solidFill>
                  <a:srgbClr val="5A6470"/>
                </a:solidFill>
                <a:latin typeface="Arial" pitchFamily="34" charset="0"/>
                <a:ea typeface="Arial" pitchFamily="34" charset="-122"/>
                <a:cs typeface="Arial" pitchFamily="34" charset="-120"/>
              </a:rPr>
              <a:t>Near-zero cost — the work is already done; it is only a matter of displaying it and asking for confirmation.</a:t>
            </a:r>
            <a:endParaRPr lang="en-US" sz="1200" dirty="0"/>
          </a:p>
          <a:p>
            <a:pPr marL="342900" indent="-342900">
              <a:spcAft>
                <a:spcPts val="1000"/>
              </a:spcAft>
              <a:buSzPct val="100000"/>
              <a:buChar char="•"/>
            </a:pPr>
            <a:r>
              <a:rPr lang="en-US" sz="1200" dirty="0">
                <a:solidFill>
                  <a:srgbClr val="5A6470"/>
                </a:solidFill>
                <a:latin typeface="Arial" pitchFamily="34" charset="0"/>
                <a:ea typeface="Arial" pitchFamily="34" charset="-122"/>
                <a:cs typeface="Arial" pitchFamily="34" charset="-120"/>
              </a:rPr>
              <a:t>Catches the wrong-site and wrong-release mistakes that are otherwise only visible after ArgoCD has synced.</a:t>
            </a:r>
            <a:endParaRPr lang="en-US" sz="1200" dirty="0"/>
          </a:p>
        </p:txBody>
      </p:sp>
      <p:sp>
        <p:nvSpPr>
          <p:cNvPr id="14" name="Text 12"/>
          <p:cNvSpPr/>
          <p:nvPr/>
        </p:nvSpPr>
        <p:spPr>
          <a:xfrm>
            <a:off x="548640" y="5806440"/>
            <a:ext cx="11091672" cy="365760"/>
          </a:xfrm>
          <a:prstGeom prst="rect">
            <a:avLst/>
          </a:prstGeom>
          <a:noFill/>
          <a:ln/>
        </p:spPr>
        <p:txBody>
          <a:bodyPr wrap="square" lIns="0" tIns="0" rIns="0" bIns="0" rtlCol="0" anchor="ctr"/>
          <a:lstStyle/>
          <a:p>
            <a:pPr indent="0" marL="0">
              <a:buNone/>
            </a:pPr>
            <a:r>
              <a:rPr lang="en-US" sz="1200" b="1" dirty="0">
                <a:solidFill>
                  <a:srgbClr val="1F3A68"/>
                </a:solidFill>
                <a:latin typeface="Arial" pitchFamily="34" charset="0"/>
                <a:ea typeface="Arial" pitchFamily="34" charset="-122"/>
                <a:cs typeface="Arial" pitchFamily="34" charset="-120"/>
              </a:rPr>
              <a:t>One closes a hole in the audit trail; the other closes the gap between intent and effect at the moment of deployment.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20040"/>
            <a:ext cx="11091672" cy="502920"/>
          </a:xfrm>
          <a:prstGeom prst="rect">
            <a:avLst/>
          </a:prstGeom>
          <a:noFill/>
          <a:ln/>
        </p:spPr>
        <p:txBody>
          <a:bodyPr wrap="square" lIns="0" tIns="0" rIns="0" bIns="0" rtlCol="0" anchor="ctr"/>
          <a:lstStyle/>
          <a:p>
            <a:pPr indent="0" marL="0">
              <a:buNone/>
            </a:pPr>
            <a:r>
              <a:rPr lang="en-US" sz="3000" b="1" dirty="0">
                <a:solidFill>
                  <a:srgbClr val="1F3A68"/>
                </a:solidFill>
                <a:latin typeface="Arial" pitchFamily="34" charset="0"/>
                <a:ea typeface="Arial" pitchFamily="34" charset="-122"/>
                <a:cs typeface="Arial" pitchFamily="34" charset="-120"/>
              </a:rPr>
              <a:t>8.  Convergence alerting, and where the history lives</a:t>
            </a:r>
            <a:endParaRPr lang="en-US" sz="3000" dirty="0"/>
          </a:p>
        </p:txBody>
      </p:sp>
      <p:sp>
        <p:nvSpPr>
          <p:cNvPr id="3" name="Text 1"/>
          <p:cNvSpPr/>
          <p:nvPr/>
        </p:nvSpPr>
        <p:spPr>
          <a:xfrm>
            <a:off x="548640" y="868680"/>
            <a:ext cx="11091672" cy="320040"/>
          </a:xfrm>
          <a:prstGeom prst="rect">
            <a:avLst/>
          </a:prstGeom>
          <a:noFill/>
          <a:ln/>
        </p:spPr>
        <p:txBody>
          <a:bodyPr wrap="square" lIns="0" tIns="0" rIns="0" bIns="0" rtlCol="0" anchor="ctr"/>
          <a:lstStyle/>
          <a:p>
            <a:pPr indent="0" marL="0">
              <a:buNone/>
            </a:pPr>
            <a:r>
              <a:rPr lang="en-US" sz="1400" i="1" dirty="0">
                <a:solidFill>
                  <a:srgbClr val="5A6470"/>
                </a:solidFill>
                <a:latin typeface="Arial" pitchFamily="34" charset="0"/>
                <a:ea typeface="Arial" pitchFamily="34" charset="-122"/>
                <a:cs typeface="Arial" pitchFamily="34" charset="-120"/>
              </a:rPr>
              <a:t>Escalate divergence, and be explicit about which system answers which question</a:t>
            </a:r>
            <a:endParaRPr lang="en-US" sz="1400" dirty="0"/>
          </a:p>
        </p:txBody>
      </p:sp>
      <p:sp>
        <p:nvSpPr>
          <p:cNvPr id="4" name="Shape 2"/>
          <p:cNvSpPr/>
          <p:nvPr/>
        </p:nvSpPr>
        <p:spPr>
          <a:xfrm>
            <a:off x="548640" y="1325880"/>
            <a:ext cx="11091672" cy="1417320"/>
          </a:xfrm>
          <a:prstGeom prst="roundRect">
            <a:avLst>
              <a:gd name="adj" fmla="val 3226"/>
            </a:avLst>
          </a:prstGeom>
          <a:solidFill>
            <a:srgbClr val="FFFFFF"/>
          </a:solidFill>
          <a:ln w="19050">
            <a:solidFill>
              <a:srgbClr val="2E7D4F"/>
            </a:solidFill>
            <a:prstDash val="solid"/>
          </a:ln>
        </p:spPr>
      </p:sp>
      <p:sp>
        <p:nvSpPr>
          <p:cNvPr id="5" name="Shape 3"/>
          <p:cNvSpPr/>
          <p:nvPr/>
        </p:nvSpPr>
        <p:spPr>
          <a:xfrm>
            <a:off x="777240" y="1508760"/>
            <a:ext cx="960120" cy="274320"/>
          </a:xfrm>
          <a:prstGeom prst="roundRect">
            <a:avLst>
              <a:gd name="adj" fmla="val 33333"/>
            </a:avLst>
          </a:prstGeom>
          <a:solidFill>
            <a:srgbClr val="E9F3EC"/>
          </a:solidFill>
          <a:ln w="12700">
            <a:solidFill>
              <a:srgbClr val="2E7D4F"/>
            </a:solidFill>
            <a:prstDash val="solid"/>
          </a:ln>
        </p:spPr>
      </p:sp>
      <p:sp>
        <p:nvSpPr>
          <p:cNvPr id="6" name="Text 4"/>
          <p:cNvSpPr/>
          <p:nvPr/>
        </p:nvSpPr>
        <p:spPr>
          <a:xfrm>
            <a:off x="777240" y="1508760"/>
            <a:ext cx="960120" cy="274320"/>
          </a:xfrm>
          <a:prstGeom prst="rect">
            <a:avLst/>
          </a:prstGeom>
          <a:noFill/>
          <a:ln/>
        </p:spPr>
        <p:txBody>
          <a:bodyPr wrap="square" lIns="0" tIns="0" rIns="0" bIns="0" rtlCol="0" anchor="ctr"/>
          <a:lstStyle/>
          <a:p>
            <a:pPr algn="ctr" indent="0" marL="0">
              <a:buNone/>
            </a:pPr>
            <a:r>
              <a:rPr lang="en-US" sz="1000" b="1" dirty="0">
                <a:solidFill>
                  <a:srgbClr val="2E7D4F"/>
                </a:solidFill>
                <a:latin typeface="Arial" pitchFamily="34" charset="0"/>
                <a:ea typeface="Arial" pitchFamily="34" charset="-122"/>
                <a:cs typeface="Arial" pitchFamily="34" charset="-120"/>
              </a:rPr>
              <a:t>NEW</a:t>
            </a:r>
            <a:endParaRPr lang="en-US" sz="1000" dirty="0"/>
          </a:p>
        </p:txBody>
      </p:sp>
      <p:sp>
        <p:nvSpPr>
          <p:cNvPr id="7" name="Text 5"/>
          <p:cNvSpPr/>
          <p:nvPr/>
        </p:nvSpPr>
        <p:spPr>
          <a:xfrm>
            <a:off x="1920240" y="1508760"/>
            <a:ext cx="3657600" cy="274320"/>
          </a:xfrm>
          <a:prstGeom prst="rect">
            <a:avLst/>
          </a:prstGeom>
          <a:noFill/>
          <a:ln/>
        </p:spPr>
        <p:txBody>
          <a:bodyPr wrap="square" lIns="0" tIns="0" rIns="0" bIns="0" rtlCol="0" anchor="ctr"/>
          <a:lstStyle/>
          <a:p>
            <a:pPr indent="0" marL="0">
              <a:buNone/>
            </a:pPr>
            <a:r>
              <a:rPr lang="en-US" sz="1500" b="1" dirty="0">
                <a:solidFill>
                  <a:srgbClr val="1F3A68"/>
                </a:solidFill>
                <a:latin typeface="Arial" pitchFamily="34" charset="0"/>
                <a:ea typeface="Arial" pitchFamily="34" charset="-122"/>
                <a:cs typeface="Arial" pitchFamily="34" charset="-120"/>
              </a:rPr>
              <a:t>Convergence alerting</a:t>
            </a:r>
            <a:endParaRPr lang="en-US" sz="1500" dirty="0"/>
          </a:p>
        </p:txBody>
      </p:sp>
      <p:sp>
        <p:nvSpPr>
          <p:cNvPr id="8" name="Text 6"/>
          <p:cNvSpPr/>
          <p:nvPr/>
        </p:nvSpPr>
        <p:spPr>
          <a:xfrm>
            <a:off x="822960" y="1920240"/>
            <a:ext cx="10607040" cy="731520"/>
          </a:xfrm>
          <a:prstGeom prst="rect">
            <a:avLst/>
          </a:prstGeom>
          <a:noFill/>
          <a:ln/>
        </p:spPr>
        <p:txBody>
          <a:bodyPr wrap="square" lIns="0" tIns="0" rIns="0" bIns="0" rtlCol="0" anchor="ctr"/>
          <a:lstStyle/>
          <a:p>
            <a:pPr indent="0" marL="0">
              <a:buNone/>
            </a:pPr>
            <a:r>
              <a:rPr lang="en-US" sz="1250" dirty="0">
                <a:solidFill>
                  <a:srgbClr val="5A6470"/>
                </a:solidFill>
                <a:latin typeface="Arial" pitchFamily="34" charset="0"/>
                <a:ea typeface="Arial" pitchFamily="34" charset="-122"/>
                <a:cs typeface="Arial" pitchFamily="34" charset="-120"/>
              </a:rPr>
              <a:t>The dashboard already shows desired versus running release per site. Add a threshold: alert when a site fails to reach its desired release within an agreed window, or when ArgoCD reports sync failure or drift. A site stuck mid-rollout should page someone, not wait to be noticed by whoever happens to open Grafana.</a:t>
            </a:r>
            <a:endParaRPr lang="en-US" sz="1250" dirty="0"/>
          </a:p>
        </p:txBody>
      </p:sp>
      <p:sp>
        <p:nvSpPr>
          <p:cNvPr id="9" name="Text 7"/>
          <p:cNvSpPr/>
          <p:nvPr/>
        </p:nvSpPr>
        <p:spPr>
          <a:xfrm>
            <a:off x="548640" y="2926080"/>
            <a:ext cx="7315200" cy="320040"/>
          </a:xfrm>
          <a:prstGeom prst="rect">
            <a:avLst/>
          </a:prstGeom>
          <a:noFill/>
          <a:ln/>
        </p:spPr>
        <p:txBody>
          <a:bodyPr wrap="square" lIns="0" tIns="0" rIns="0" bIns="0" rtlCol="0" anchor="ctr"/>
          <a:lstStyle/>
          <a:p>
            <a:pPr indent="0" marL="0">
              <a:buNone/>
            </a:pPr>
            <a:r>
              <a:rPr lang="en-US" sz="1600" b="1" dirty="0">
                <a:solidFill>
                  <a:srgbClr val="1F3A68"/>
                </a:solidFill>
                <a:latin typeface="Arial" pitchFamily="34" charset="0"/>
                <a:ea typeface="Arial" pitchFamily="34" charset="-122"/>
                <a:cs typeface="Arial" pitchFamily="34" charset="-120"/>
              </a:rPr>
              <a:t>Which system answers which question</a:t>
            </a:r>
            <a:endParaRPr lang="en-US" sz="1600" dirty="0"/>
          </a:p>
        </p:txBody>
      </p:sp>
      <p:sp>
        <p:nvSpPr>
          <p:cNvPr id="10" name="Shape 8"/>
          <p:cNvSpPr/>
          <p:nvPr/>
        </p:nvSpPr>
        <p:spPr>
          <a:xfrm>
            <a:off x="548640" y="3337560"/>
            <a:ext cx="3483864" cy="2286000"/>
          </a:xfrm>
          <a:prstGeom prst="roundRect">
            <a:avLst>
              <a:gd name="adj" fmla="val 2000"/>
            </a:avLst>
          </a:prstGeom>
          <a:solidFill>
            <a:srgbClr val="FFFFFF"/>
          </a:solidFill>
          <a:ln w="25400">
            <a:solidFill>
              <a:srgbClr val="2E7D4F"/>
            </a:solidFill>
            <a:prstDash val="solid"/>
          </a:ln>
        </p:spPr>
      </p:sp>
      <p:sp>
        <p:nvSpPr>
          <p:cNvPr id="11" name="Text 9"/>
          <p:cNvSpPr/>
          <p:nvPr/>
        </p:nvSpPr>
        <p:spPr>
          <a:xfrm>
            <a:off x="731520" y="3493008"/>
            <a:ext cx="3108960" cy="292608"/>
          </a:xfrm>
          <a:prstGeom prst="rect">
            <a:avLst/>
          </a:prstGeom>
          <a:noFill/>
          <a:ln/>
        </p:spPr>
        <p:txBody>
          <a:bodyPr wrap="square" lIns="0" tIns="0" rIns="0" bIns="0" rtlCol="0" anchor="ctr"/>
          <a:lstStyle/>
          <a:p>
            <a:pPr indent="0" marL="0">
              <a:buNone/>
            </a:pPr>
            <a:r>
              <a:rPr lang="en-US" sz="1500" b="1" dirty="0">
                <a:solidFill>
                  <a:srgbClr val="1F3A68"/>
                </a:solidFill>
                <a:latin typeface="Arial" pitchFamily="34" charset="0"/>
                <a:ea typeface="Arial" pitchFamily="34" charset="-122"/>
                <a:cs typeface="Arial" pitchFamily="34" charset="-120"/>
              </a:rPr>
              <a:t>Git</a:t>
            </a:r>
            <a:endParaRPr lang="en-US" sz="1500" dirty="0"/>
          </a:p>
        </p:txBody>
      </p:sp>
      <p:sp>
        <p:nvSpPr>
          <p:cNvPr id="12" name="Text 10"/>
          <p:cNvSpPr/>
          <p:nvPr/>
        </p:nvSpPr>
        <p:spPr>
          <a:xfrm>
            <a:off x="731520" y="3822192"/>
            <a:ext cx="3108960" cy="274320"/>
          </a:xfrm>
          <a:prstGeom prst="rect">
            <a:avLst/>
          </a:prstGeom>
          <a:noFill/>
          <a:ln/>
        </p:spPr>
        <p:txBody>
          <a:bodyPr wrap="square" lIns="0" tIns="0" rIns="0" bIns="0" rtlCol="0" anchor="ctr"/>
          <a:lstStyle/>
          <a:p>
            <a:pPr indent="0" marL="0">
              <a:buNone/>
            </a:pPr>
            <a:r>
              <a:rPr lang="en-US" sz="1200" b="1" dirty="0">
                <a:solidFill>
                  <a:srgbClr val="2E7D4F"/>
                </a:solidFill>
                <a:latin typeface="Arial" pitchFamily="34" charset="0"/>
                <a:ea typeface="Arial" pitchFamily="34" charset="-122"/>
                <a:cs typeface="Arial" pitchFamily="34" charset="-120"/>
              </a:rPr>
              <a:t>Release history</a:t>
            </a:r>
            <a:endParaRPr lang="en-US" sz="1200" dirty="0"/>
          </a:p>
        </p:txBody>
      </p:sp>
      <p:sp>
        <p:nvSpPr>
          <p:cNvPr id="13" name="Text 11"/>
          <p:cNvSpPr/>
          <p:nvPr/>
        </p:nvSpPr>
        <p:spPr>
          <a:xfrm>
            <a:off x="731520" y="4160520"/>
            <a:ext cx="3108960" cy="1325880"/>
          </a:xfrm>
          <a:prstGeom prst="rect">
            <a:avLst/>
          </a:prstGeom>
          <a:noFill/>
          <a:ln/>
        </p:spPr>
        <p:txBody>
          <a:bodyPr wrap="square" lIns="0" tIns="0" rIns="0" bIns="0" rtlCol="0" anchor="ctr"/>
          <a:lstStyle/>
          <a:p>
            <a:pPr indent="0" marL="0">
              <a:buNone/>
            </a:pPr>
            <a:r>
              <a:rPr lang="en-US" sz="1150" dirty="0">
                <a:solidFill>
                  <a:srgbClr val="5A6470"/>
                </a:solidFill>
                <a:latin typeface="Arial" pitchFamily="34" charset="0"/>
                <a:ea typeface="Arial" pitchFamily="34" charset="-122"/>
                <a:cs typeface="Arial" pitchFamily="34" charset="-120"/>
              </a:rPr>
              <a:t>What was released, when, what it contained, who approved it, and what each site has been running over time. Retained indefinitely.</a:t>
            </a:r>
            <a:endParaRPr lang="en-US" sz="1150" dirty="0"/>
          </a:p>
        </p:txBody>
      </p:sp>
      <p:sp>
        <p:nvSpPr>
          <p:cNvPr id="14" name="Shape 12"/>
          <p:cNvSpPr/>
          <p:nvPr/>
        </p:nvSpPr>
        <p:spPr>
          <a:xfrm>
            <a:off x="4352544" y="3337560"/>
            <a:ext cx="3483864" cy="2286000"/>
          </a:xfrm>
          <a:prstGeom prst="roundRect">
            <a:avLst>
              <a:gd name="adj" fmla="val 2000"/>
            </a:avLst>
          </a:prstGeom>
          <a:solidFill>
            <a:srgbClr val="FFFFFF"/>
          </a:solidFill>
          <a:ln w="25400">
            <a:solidFill>
              <a:srgbClr val="0093D0"/>
            </a:solidFill>
            <a:prstDash val="solid"/>
          </a:ln>
        </p:spPr>
      </p:sp>
      <p:sp>
        <p:nvSpPr>
          <p:cNvPr id="15" name="Text 13"/>
          <p:cNvSpPr/>
          <p:nvPr/>
        </p:nvSpPr>
        <p:spPr>
          <a:xfrm>
            <a:off x="4535424" y="3493008"/>
            <a:ext cx="3108960" cy="292608"/>
          </a:xfrm>
          <a:prstGeom prst="rect">
            <a:avLst/>
          </a:prstGeom>
          <a:noFill/>
          <a:ln/>
        </p:spPr>
        <p:txBody>
          <a:bodyPr wrap="square" lIns="0" tIns="0" rIns="0" bIns="0" rtlCol="0" anchor="ctr"/>
          <a:lstStyle/>
          <a:p>
            <a:pPr indent="0" marL="0">
              <a:buNone/>
            </a:pPr>
            <a:r>
              <a:rPr lang="en-US" sz="1500" b="1" dirty="0">
                <a:solidFill>
                  <a:srgbClr val="1F3A68"/>
                </a:solidFill>
                <a:latin typeface="Arial" pitchFamily="34" charset="0"/>
                <a:ea typeface="Arial" pitchFamily="34" charset="-122"/>
                <a:cs typeface="Arial" pitchFamily="34" charset="-120"/>
              </a:rPr>
              <a:t>Prometheus / Grafana</a:t>
            </a:r>
            <a:endParaRPr lang="en-US" sz="1500" dirty="0"/>
          </a:p>
        </p:txBody>
      </p:sp>
      <p:sp>
        <p:nvSpPr>
          <p:cNvPr id="16" name="Text 14"/>
          <p:cNvSpPr/>
          <p:nvPr/>
        </p:nvSpPr>
        <p:spPr>
          <a:xfrm>
            <a:off x="4535424" y="3822192"/>
            <a:ext cx="3108960" cy="274320"/>
          </a:xfrm>
          <a:prstGeom prst="rect">
            <a:avLst/>
          </a:prstGeom>
          <a:noFill/>
          <a:ln/>
        </p:spPr>
        <p:txBody>
          <a:bodyPr wrap="square" lIns="0" tIns="0" rIns="0" bIns="0" rtlCol="0" anchor="ctr"/>
          <a:lstStyle/>
          <a:p>
            <a:pPr indent="0" marL="0">
              <a:buNone/>
            </a:pPr>
            <a:r>
              <a:rPr lang="en-US" sz="1200" b="1" dirty="0">
                <a:solidFill>
                  <a:srgbClr val="0093D0"/>
                </a:solidFill>
                <a:latin typeface="Arial" pitchFamily="34" charset="0"/>
                <a:ea typeface="Arial" pitchFamily="34" charset="-122"/>
                <a:cs typeface="Arial" pitchFamily="34" charset="-120"/>
              </a:rPr>
              <a:t>Current state</a:t>
            </a:r>
            <a:endParaRPr lang="en-US" sz="1200" dirty="0"/>
          </a:p>
        </p:txBody>
      </p:sp>
      <p:sp>
        <p:nvSpPr>
          <p:cNvPr id="17" name="Text 15"/>
          <p:cNvSpPr/>
          <p:nvPr/>
        </p:nvSpPr>
        <p:spPr>
          <a:xfrm>
            <a:off x="4535424" y="4160520"/>
            <a:ext cx="3108960" cy="1325880"/>
          </a:xfrm>
          <a:prstGeom prst="rect">
            <a:avLst/>
          </a:prstGeom>
          <a:noFill/>
          <a:ln/>
        </p:spPr>
        <p:txBody>
          <a:bodyPr wrap="square" lIns="0" tIns="0" rIns="0" bIns="0" rtlCol="0" anchor="ctr"/>
          <a:lstStyle/>
          <a:p>
            <a:pPr indent="0" marL="0">
              <a:buNone/>
            </a:pPr>
            <a:r>
              <a:rPr lang="en-US" sz="1150" dirty="0">
                <a:solidFill>
                  <a:srgbClr val="5A6470"/>
                </a:solidFill>
                <a:latin typeface="Arial" pitchFamily="34" charset="0"/>
                <a:ea typeface="Arial" pitchFamily="34" charset="-122"/>
                <a:cs typeface="Arial" pitchFamily="34" charset="-120"/>
              </a:rPr>
              <a:t>What is running right now, sync and health status, and desired versus running per site. Operational, not evidentiary.</a:t>
            </a:r>
            <a:endParaRPr lang="en-US" sz="1150" dirty="0"/>
          </a:p>
        </p:txBody>
      </p:sp>
      <p:sp>
        <p:nvSpPr>
          <p:cNvPr id="18" name="Shape 16"/>
          <p:cNvSpPr/>
          <p:nvPr/>
        </p:nvSpPr>
        <p:spPr>
          <a:xfrm>
            <a:off x="8156448" y="3337560"/>
            <a:ext cx="3483864" cy="2286000"/>
          </a:xfrm>
          <a:prstGeom prst="roundRect">
            <a:avLst>
              <a:gd name="adj" fmla="val 2000"/>
            </a:avLst>
          </a:prstGeom>
          <a:solidFill>
            <a:srgbClr val="FFFFFF"/>
          </a:solidFill>
          <a:ln w="25400">
            <a:solidFill>
              <a:srgbClr val="0093D0"/>
            </a:solidFill>
            <a:prstDash val="solid"/>
          </a:ln>
        </p:spPr>
      </p:sp>
      <p:sp>
        <p:nvSpPr>
          <p:cNvPr id="19" name="Text 17"/>
          <p:cNvSpPr/>
          <p:nvPr/>
        </p:nvSpPr>
        <p:spPr>
          <a:xfrm>
            <a:off x="8339328" y="3493008"/>
            <a:ext cx="3108960" cy="292608"/>
          </a:xfrm>
          <a:prstGeom prst="rect">
            <a:avLst/>
          </a:prstGeom>
          <a:noFill/>
          <a:ln/>
        </p:spPr>
        <p:txBody>
          <a:bodyPr wrap="square" lIns="0" tIns="0" rIns="0" bIns="0" rtlCol="0" anchor="ctr"/>
          <a:lstStyle/>
          <a:p>
            <a:pPr indent="0" marL="0">
              <a:buNone/>
            </a:pPr>
            <a:r>
              <a:rPr lang="en-US" sz="1500" b="1" dirty="0">
                <a:solidFill>
                  <a:srgbClr val="1F3A68"/>
                </a:solidFill>
                <a:latin typeface="Arial" pitchFamily="34" charset="0"/>
                <a:ea typeface="Arial" pitchFamily="34" charset="-122"/>
                <a:cs typeface="Arial" pitchFamily="34" charset="-120"/>
              </a:rPr>
              <a:t>ArgoCD</a:t>
            </a:r>
            <a:endParaRPr lang="en-US" sz="1500" dirty="0"/>
          </a:p>
        </p:txBody>
      </p:sp>
      <p:sp>
        <p:nvSpPr>
          <p:cNvPr id="20" name="Text 18"/>
          <p:cNvSpPr/>
          <p:nvPr/>
        </p:nvSpPr>
        <p:spPr>
          <a:xfrm>
            <a:off x="8339328" y="3822192"/>
            <a:ext cx="3108960" cy="274320"/>
          </a:xfrm>
          <a:prstGeom prst="rect">
            <a:avLst/>
          </a:prstGeom>
          <a:noFill/>
          <a:ln/>
        </p:spPr>
        <p:txBody>
          <a:bodyPr wrap="square" lIns="0" tIns="0" rIns="0" bIns="0" rtlCol="0" anchor="ctr"/>
          <a:lstStyle/>
          <a:p>
            <a:pPr indent="0" marL="0">
              <a:buNone/>
            </a:pPr>
            <a:r>
              <a:rPr lang="en-US" sz="1200" b="1" dirty="0">
                <a:solidFill>
                  <a:srgbClr val="0093D0"/>
                </a:solidFill>
                <a:latin typeface="Arial" pitchFamily="34" charset="0"/>
                <a:ea typeface="Arial" pitchFamily="34" charset="-122"/>
                <a:cs typeface="Arial" pitchFamily="34" charset="-120"/>
              </a:rPr>
              <a:t>Reconciliation</a:t>
            </a:r>
            <a:endParaRPr lang="en-US" sz="1200" dirty="0"/>
          </a:p>
        </p:txBody>
      </p:sp>
      <p:sp>
        <p:nvSpPr>
          <p:cNvPr id="21" name="Text 19"/>
          <p:cNvSpPr/>
          <p:nvPr/>
        </p:nvSpPr>
        <p:spPr>
          <a:xfrm>
            <a:off x="8339328" y="4160520"/>
            <a:ext cx="3108960" cy="1325880"/>
          </a:xfrm>
          <a:prstGeom prst="rect">
            <a:avLst/>
          </a:prstGeom>
          <a:noFill/>
          <a:ln/>
        </p:spPr>
        <p:txBody>
          <a:bodyPr wrap="square" lIns="0" tIns="0" rIns="0" bIns="0" rtlCol="0" anchor="ctr"/>
          <a:lstStyle/>
          <a:p>
            <a:pPr indent="0" marL="0">
              <a:buNone/>
            </a:pPr>
            <a:r>
              <a:rPr lang="en-US" sz="1150" dirty="0">
                <a:solidFill>
                  <a:srgbClr val="5A6470"/>
                </a:solidFill>
                <a:latin typeface="Arial" pitchFamily="34" charset="0"/>
                <a:ea typeface="Arial" pitchFamily="34" charset="-122"/>
                <a:cs typeface="Arial" pitchFamily="34" charset="-120"/>
              </a:rPr>
              <a:t>What was applied to the cluster and when. Sole actor holding cluster credentials.</a:t>
            </a:r>
            <a:endParaRPr lang="en-US" sz="1150" dirty="0"/>
          </a:p>
        </p:txBody>
      </p:sp>
      <p:sp>
        <p:nvSpPr>
          <p:cNvPr id="22" name="Text 20"/>
          <p:cNvSpPr/>
          <p:nvPr/>
        </p:nvSpPr>
        <p:spPr>
          <a:xfrm>
            <a:off x="548640" y="5806440"/>
            <a:ext cx="11091672" cy="365760"/>
          </a:xfrm>
          <a:prstGeom prst="rect">
            <a:avLst/>
          </a:prstGeom>
          <a:noFill/>
          <a:ln/>
        </p:spPr>
        <p:txBody>
          <a:bodyPr wrap="square" lIns="0" tIns="0" rIns="0" bIns="0" rtlCol="0" anchor="ctr"/>
          <a:lstStyle/>
          <a:p>
            <a:pPr indent="0" marL="0">
              <a:buNone/>
            </a:pPr>
            <a:r>
              <a:rPr lang="en-US" sz="1200" b="1" dirty="0">
                <a:solidFill>
                  <a:srgbClr val="1F3A68"/>
                </a:solidFill>
                <a:latin typeface="Arial" pitchFamily="34" charset="0"/>
                <a:ea typeface="Arial" pitchFamily="34" charset="-122"/>
                <a:cs typeface="Arial" pitchFamily="34" charset="-120"/>
              </a:rPr>
              <a:t>Stating this explicitly matters: it stops anyone reaching for a dashboard to answer an audit question, and stops metrics being asked to retain history they were never designed to hold.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20040"/>
            <a:ext cx="11091672" cy="502920"/>
          </a:xfrm>
          <a:prstGeom prst="rect">
            <a:avLst/>
          </a:prstGeom>
          <a:noFill/>
          <a:ln/>
        </p:spPr>
        <p:txBody>
          <a:bodyPr wrap="square" lIns="0" tIns="0" rIns="0" bIns="0" rtlCol="0" anchor="ctr"/>
          <a:lstStyle/>
          <a:p>
            <a:pPr indent="0" marL="0">
              <a:buNone/>
            </a:pPr>
            <a:r>
              <a:rPr lang="en-US" sz="3000" b="1" dirty="0">
                <a:solidFill>
                  <a:srgbClr val="1F3A68"/>
                </a:solidFill>
                <a:latin typeface="Arial" pitchFamily="34" charset="0"/>
                <a:ea typeface="Arial" pitchFamily="34" charset="-122"/>
                <a:cs typeface="Arial" pitchFamily="34" charset="-120"/>
              </a:rPr>
              <a:t>Decisions needed from the team</a:t>
            </a:r>
            <a:endParaRPr lang="en-US" sz="3000" dirty="0"/>
          </a:p>
        </p:txBody>
      </p:sp>
      <p:sp>
        <p:nvSpPr>
          <p:cNvPr id="3" name="Text 1"/>
          <p:cNvSpPr/>
          <p:nvPr/>
        </p:nvSpPr>
        <p:spPr>
          <a:xfrm>
            <a:off x="548640" y="868680"/>
            <a:ext cx="11091672" cy="320040"/>
          </a:xfrm>
          <a:prstGeom prst="rect">
            <a:avLst/>
          </a:prstGeom>
          <a:noFill/>
          <a:ln/>
        </p:spPr>
        <p:txBody>
          <a:bodyPr wrap="square" lIns="0" tIns="0" rIns="0" bIns="0" rtlCol="0" anchor="ctr"/>
          <a:lstStyle/>
          <a:p>
            <a:pPr indent="0" marL="0">
              <a:buNone/>
            </a:pPr>
            <a:r>
              <a:rPr lang="en-US" sz="1400" i="1" dirty="0">
                <a:solidFill>
                  <a:srgbClr val="5A6470"/>
                </a:solidFill>
                <a:latin typeface="Arial" pitchFamily="34" charset="0"/>
                <a:ea typeface="Arial" pitchFamily="34" charset="-122"/>
                <a:cs typeface="Arial" pitchFamily="34" charset="-120"/>
              </a:rPr>
              <a:t>Six questions to close before the design is finalised</a:t>
            </a:r>
            <a:endParaRPr lang="en-US" sz="1400" dirty="0"/>
          </a:p>
        </p:txBody>
      </p:sp>
      <p:sp>
        <p:nvSpPr>
          <p:cNvPr id="4" name="Shape 2"/>
          <p:cNvSpPr/>
          <p:nvPr/>
        </p:nvSpPr>
        <p:spPr>
          <a:xfrm>
            <a:off x="548640" y="1371600"/>
            <a:ext cx="11091672" cy="694944"/>
          </a:xfrm>
          <a:prstGeom prst="roundRect">
            <a:avLst>
              <a:gd name="adj" fmla="val 6579"/>
            </a:avLst>
          </a:prstGeom>
          <a:solidFill>
            <a:srgbClr val="FFFFFF"/>
          </a:solidFill>
          <a:ln w="12700">
            <a:solidFill>
              <a:srgbClr val="D5DCE5"/>
            </a:solidFill>
            <a:prstDash val="solid"/>
          </a:ln>
        </p:spPr>
      </p:sp>
      <p:sp>
        <p:nvSpPr>
          <p:cNvPr id="5" name="Shape 3"/>
          <p:cNvSpPr/>
          <p:nvPr/>
        </p:nvSpPr>
        <p:spPr>
          <a:xfrm>
            <a:off x="777240" y="1563624"/>
            <a:ext cx="310896" cy="310896"/>
          </a:xfrm>
          <a:prstGeom prst="ellipse">
            <a:avLst/>
          </a:prstGeom>
          <a:solidFill>
            <a:srgbClr val="1F3A68"/>
          </a:solidFill>
          <a:ln w="12700">
            <a:solidFill>
              <a:srgbClr val="1F3A68"/>
            </a:solidFill>
            <a:prstDash val="solid"/>
          </a:ln>
        </p:spPr>
      </p:sp>
      <p:sp>
        <p:nvSpPr>
          <p:cNvPr id="6" name="Text 4"/>
          <p:cNvSpPr/>
          <p:nvPr/>
        </p:nvSpPr>
        <p:spPr>
          <a:xfrm>
            <a:off x="777240" y="15636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7" name="Text 5"/>
          <p:cNvSpPr/>
          <p:nvPr/>
        </p:nvSpPr>
        <p:spPr>
          <a:xfrm>
            <a:off x="1280160" y="1371600"/>
            <a:ext cx="2286000" cy="694944"/>
          </a:xfrm>
          <a:prstGeom prst="rect">
            <a:avLst/>
          </a:prstGeom>
          <a:noFill/>
          <a:ln/>
        </p:spPr>
        <p:txBody>
          <a:bodyPr wrap="square" lIns="0" tIns="0" rIns="0" bIns="0" rtlCol="0" anchor="ctr"/>
          <a:lstStyle/>
          <a:p>
            <a:pPr indent="0" marL="0">
              <a:buNone/>
            </a:pPr>
            <a:r>
              <a:rPr lang="en-US" sz="1300" b="1" dirty="0">
                <a:solidFill>
                  <a:srgbClr val="1F3A68"/>
                </a:solidFill>
                <a:latin typeface="Arial" pitchFamily="34" charset="0"/>
                <a:ea typeface="Arial" pitchFamily="34" charset="-122"/>
                <a:cs typeface="Arial" pitchFamily="34" charset="-120"/>
              </a:rPr>
              <a:t>Rollout waves</a:t>
            </a:r>
            <a:endParaRPr lang="en-US" sz="1300" dirty="0"/>
          </a:p>
        </p:txBody>
      </p:sp>
      <p:sp>
        <p:nvSpPr>
          <p:cNvPr id="8" name="Text 6"/>
          <p:cNvSpPr/>
          <p:nvPr/>
        </p:nvSpPr>
        <p:spPr>
          <a:xfrm>
            <a:off x="3657600" y="1371600"/>
            <a:ext cx="7772400" cy="694944"/>
          </a:xfrm>
          <a:prstGeom prst="rect">
            <a:avLst/>
          </a:prstGeom>
          <a:noFill/>
          <a:ln/>
        </p:spPr>
        <p:txBody>
          <a:bodyPr wrap="square" lIns="0" tIns="0" rIns="0" bIns="0" rtlCol="0" anchor="ctr"/>
          <a:lstStyle/>
          <a:p>
            <a:pPr indent="0" marL="0">
              <a:buNone/>
            </a:pPr>
            <a:r>
              <a:rPr lang="en-US" sz="1200" dirty="0">
                <a:solidFill>
                  <a:srgbClr val="5A6470"/>
                </a:solidFill>
                <a:latin typeface="Arial" pitchFamily="34" charset="0"/>
                <a:ea typeface="Arial" pitchFamily="34" charset="-122"/>
                <a:cs typeface="Arial" pitchFamily="34" charset="-120"/>
              </a:rPr>
              <a:t>How many waves, which sites are pilots, and who authorises a wave to open?</a:t>
            </a:r>
            <a:endParaRPr lang="en-US" sz="1200" dirty="0"/>
          </a:p>
        </p:txBody>
      </p:sp>
      <p:sp>
        <p:nvSpPr>
          <p:cNvPr id="9" name="Shape 7"/>
          <p:cNvSpPr/>
          <p:nvPr/>
        </p:nvSpPr>
        <p:spPr>
          <a:xfrm>
            <a:off x="548640" y="2157984"/>
            <a:ext cx="11091672" cy="694944"/>
          </a:xfrm>
          <a:prstGeom prst="roundRect">
            <a:avLst>
              <a:gd name="adj" fmla="val 6579"/>
            </a:avLst>
          </a:prstGeom>
          <a:solidFill>
            <a:srgbClr val="F2F4F7"/>
          </a:solidFill>
          <a:ln w="12700">
            <a:solidFill>
              <a:srgbClr val="D5DCE5"/>
            </a:solidFill>
            <a:prstDash val="solid"/>
          </a:ln>
        </p:spPr>
      </p:sp>
      <p:sp>
        <p:nvSpPr>
          <p:cNvPr id="10" name="Shape 8"/>
          <p:cNvSpPr/>
          <p:nvPr/>
        </p:nvSpPr>
        <p:spPr>
          <a:xfrm>
            <a:off x="777240" y="2350008"/>
            <a:ext cx="310896" cy="310896"/>
          </a:xfrm>
          <a:prstGeom prst="ellipse">
            <a:avLst/>
          </a:prstGeom>
          <a:solidFill>
            <a:srgbClr val="1F3A68"/>
          </a:solidFill>
          <a:ln w="12700">
            <a:solidFill>
              <a:srgbClr val="1F3A68"/>
            </a:solidFill>
            <a:prstDash val="solid"/>
          </a:ln>
        </p:spPr>
      </p:sp>
      <p:sp>
        <p:nvSpPr>
          <p:cNvPr id="11" name="Text 9"/>
          <p:cNvSpPr/>
          <p:nvPr/>
        </p:nvSpPr>
        <p:spPr>
          <a:xfrm>
            <a:off x="777240" y="235000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2" name="Text 10"/>
          <p:cNvSpPr/>
          <p:nvPr/>
        </p:nvSpPr>
        <p:spPr>
          <a:xfrm>
            <a:off x="1280160" y="2157984"/>
            <a:ext cx="2286000" cy="694944"/>
          </a:xfrm>
          <a:prstGeom prst="rect">
            <a:avLst/>
          </a:prstGeom>
          <a:noFill/>
          <a:ln/>
        </p:spPr>
        <p:txBody>
          <a:bodyPr wrap="square" lIns="0" tIns="0" rIns="0" bIns="0" rtlCol="0" anchor="ctr"/>
          <a:lstStyle/>
          <a:p>
            <a:pPr indent="0" marL="0">
              <a:buNone/>
            </a:pPr>
            <a:r>
              <a:rPr lang="en-US" sz="1300" b="1" dirty="0">
                <a:solidFill>
                  <a:srgbClr val="1F3A68"/>
                </a:solidFill>
                <a:latin typeface="Arial" pitchFamily="34" charset="0"/>
                <a:ea typeface="Arial" pitchFamily="34" charset="-122"/>
                <a:cs typeface="Arial" pitchFamily="34" charset="-120"/>
              </a:rPr>
              <a:t>Release approval</a:t>
            </a:r>
            <a:endParaRPr lang="en-US" sz="1300" dirty="0"/>
          </a:p>
        </p:txBody>
      </p:sp>
      <p:sp>
        <p:nvSpPr>
          <p:cNvPr id="13" name="Text 11"/>
          <p:cNvSpPr/>
          <p:nvPr/>
        </p:nvSpPr>
        <p:spPr>
          <a:xfrm>
            <a:off x="3657600" y="2157984"/>
            <a:ext cx="7772400" cy="694944"/>
          </a:xfrm>
          <a:prstGeom prst="rect">
            <a:avLst/>
          </a:prstGeom>
          <a:noFill/>
          <a:ln/>
        </p:spPr>
        <p:txBody>
          <a:bodyPr wrap="square" lIns="0" tIns="0" rIns="0" bIns="0" rtlCol="0" anchor="ctr"/>
          <a:lstStyle/>
          <a:p>
            <a:pPr indent="0" marL="0">
              <a:buNone/>
            </a:pPr>
            <a:r>
              <a:rPr lang="en-US" sz="1200" dirty="0">
                <a:solidFill>
                  <a:srgbClr val="5A6470"/>
                </a:solidFill>
                <a:latin typeface="Arial" pitchFamily="34" charset="0"/>
                <a:ea typeface="Arial" pitchFamily="34" charset="-122"/>
                <a:cs typeface="Arial" pitchFamily="34" charset="-120"/>
              </a:rPr>
              <a:t>Who approves a product release, and does approval need more than one person?</a:t>
            </a:r>
            <a:endParaRPr lang="en-US" sz="1200" dirty="0"/>
          </a:p>
        </p:txBody>
      </p:sp>
      <p:sp>
        <p:nvSpPr>
          <p:cNvPr id="14" name="Shape 12"/>
          <p:cNvSpPr/>
          <p:nvPr/>
        </p:nvSpPr>
        <p:spPr>
          <a:xfrm>
            <a:off x="548640" y="2944368"/>
            <a:ext cx="11091672" cy="694944"/>
          </a:xfrm>
          <a:prstGeom prst="roundRect">
            <a:avLst>
              <a:gd name="adj" fmla="val 6579"/>
            </a:avLst>
          </a:prstGeom>
          <a:solidFill>
            <a:srgbClr val="FFFFFF"/>
          </a:solidFill>
          <a:ln w="12700">
            <a:solidFill>
              <a:srgbClr val="D5DCE5"/>
            </a:solidFill>
            <a:prstDash val="solid"/>
          </a:ln>
        </p:spPr>
      </p:sp>
      <p:sp>
        <p:nvSpPr>
          <p:cNvPr id="15" name="Shape 13"/>
          <p:cNvSpPr/>
          <p:nvPr/>
        </p:nvSpPr>
        <p:spPr>
          <a:xfrm>
            <a:off x="777240" y="3136392"/>
            <a:ext cx="310896" cy="310896"/>
          </a:xfrm>
          <a:prstGeom prst="ellipse">
            <a:avLst/>
          </a:prstGeom>
          <a:solidFill>
            <a:srgbClr val="1F3A68"/>
          </a:solidFill>
          <a:ln w="12700">
            <a:solidFill>
              <a:srgbClr val="1F3A68"/>
            </a:solidFill>
            <a:prstDash val="solid"/>
          </a:ln>
        </p:spPr>
      </p:sp>
      <p:sp>
        <p:nvSpPr>
          <p:cNvPr id="16" name="Text 14"/>
          <p:cNvSpPr/>
          <p:nvPr/>
        </p:nvSpPr>
        <p:spPr>
          <a:xfrm>
            <a:off x="777240" y="31363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7" name="Text 15"/>
          <p:cNvSpPr/>
          <p:nvPr/>
        </p:nvSpPr>
        <p:spPr>
          <a:xfrm>
            <a:off x="1280160" y="2944368"/>
            <a:ext cx="2286000" cy="694944"/>
          </a:xfrm>
          <a:prstGeom prst="rect">
            <a:avLst/>
          </a:prstGeom>
          <a:noFill/>
          <a:ln/>
        </p:spPr>
        <p:txBody>
          <a:bodyPr wrap="square" lIns="0" tIns="0" rIns="0" bIns="0" rtlCol="0" anchor="ctr"/>
          <a:lstStyle/>
          <a:p>
            <a:pPr indent="0" marL="0">
              <a:buNone/>
            </a:pPr>
            <a:r>
              <a:rPr lang="en-US" sz="1300" b="1" dirty="0">
                <a:solidFill>
                  <a:srgbClr val="1F3A68"/>
                </a:solidFill>
                <a:latin typeface="Arial" pitchFamily="34" charset="0"/>
                <a:ea typeface="Arial" pitchFamily="34" charset="-122"/>
                <a:cs typeface="Arial" pitchFamily="34" charset="-120"/>
              </a:rPr>
              <a:t>Scan policy</a:t>
            </a:r>
            <a:endParaRPr lang="en-US" sz="1300" dirty="0"/>
          </a:p>
        </p:txBody>
      </p:sp>
      <p:sp>
        <p:nvSpPr>
          <p:cNvPr id="18" name="Text 16"/>
          <p:cNvSpPr/>
          <p:nvPr/>
        </p:nvSpPr>
        <p:spPr>
          <a:xfrm>
            <a:off x="3657600" y="2944368"/>
            <a:ext cx="7772400" cy="694944"/>
          </a:xfrm>
          <a:prstGeom prst="rect">
            <a:avLst/>
          </a:prstGeom>
          <a:noFill/>
          <a:ln/>
        </p:spPr>
        <p:txBody>
          <a:bodyPr wrap="square" lIns="0" tIns="0" rIns="0" bIns="0" rtlCol="0" anchor="ctr"/>
          <a:lstStyle/>
          <a:p>
            <a:pPr indent="0" marL="0">
              <a:buNone/>
            </a:pPr>
            <a:r>
              <a:rPr lang="en-US" sz="1200" dirty="0">
                <a:solidFill>
                  <a:srgbClr val="5A6470"/>
                </a:solidFill>
                <a:latin typeface="Arial" pitchFamily="34" charset="0"/>
                <a:ea typeface="Arial" pitchFamily="34" charset="-122"/>
                <a:cs typeface="Arial" pitchFamily="34" charset="-120"/>
              </a:rPr>
              <a:t>Which severity threshold blocks a release, and what is the exception path when a fix is not yet available?</a:t>
            </a:r>
            <a:endParaRPr lang="en-US" sz="1200" dirty="0"/>
          </a:p>
        </p:txBody>
      </p:sp>
      <p:sp>
        <p:nvSpPr>
          <p:cNvPr id="19" name="Shape 17"/>
          <p:cNvSpPr/>
          <p:nvPr/>
        </p:nvSpPr>
        <p:spPr>
          <a:xfrm>
            <a:off x="548640" y="3730752"/>
            <a:ext cx="11091672" cy="694944"/>
          </a:xfrm>
          <a:prstGeom prst="roundRect">
            <a:avLst>
              <a:gd name="adj" fmla="val 6579"/>
            </a:avLst>
          </a:prstGeom>
          <a:solidFill>
            <a:srgbClr val="F2F4F7"/>
          </a:solidFill>
          <a:ln w="12700">
            <a:solidFill>
              <a:srgbClr val="D5DCE5"/>
            </a:solidFill>
            <a:prstDash val="solid"/>
          </a:ln>
        </p:spPr>
      </p:sp>
      <p:sp>
        <p:nvSpPr>
          <p:cNvPr id="20" name="Shape 18"/>
          <p:cNvSpPr/>
          <p:nvPr/>
        </p:nvSpPr>
        <p:spPr>
          <a:xfrm>
            <a:off x="777240" y="3922776"/>
            <a:ext cx="310896" cy="310896"/>
          </a:xfrm>
          <a:prstGeom prst="ellipse">
            <a:avLst/>
          </a:prstGeom>
          <a:solidFill>
            <a:srgbClr val="1F3A68"/>
          </a:solidFill>
          <a:ln w="12700">
            <a:solidFill>
              <a:srgbClr val="1F3A68"/>
            </a:solidFill>
            <a:prstDash val="solid"/>
          </a:ln>
        </p:spPr>
      </p:sp>
      <p:sp>
        <p:nvSpPr>
          <p:cNvPr id="21" name="Text 19"/>
          <p:cNvSpPr/>
          <p:nvPr/>
        </p:nvSpPr>
        <p:spPr>
          <a:xfrm>
            <a:off x="777240" y="392277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2" name="Text 20"/>
          <p:cNvSpPr/>
          <p:nvPr/>
        </p:nvSpPr>
        <p:spPr>
          <a:xfrm>
            <a:off x="1280160" y="3730752"/>
            <a:ext cx="2286000" cy="694944"/>
          </a:xfrm>
          <a:prstGeom prst="rect">
            <a:avLst/>
          </a:prstGeom>
          <a:noFill/>
          <a:ln/>
        </p:spPr>
        <p:txBody>
          <a:bodyPr wrap="square" lIns="0" tIns="0" rIns="0" bIns="0" rtlCol="0" anchor="ctr"/>
          <a:lstStyle/>
          <a:p>
            <a:pPr indent="0" marL="0">
              <a:buNone/>
            </a:pPr>
            <a:r>
              <a:rPr lang="en-US" sz="1300" b="1" dirty="0">
                <a:solidFill>
                  <a:srgbClr val="1F3A68"/>
                </a:solidFill>
                <a:latin typeface="Arial" pitchFamily="34" charset="0"/>
                <a:ea typeface="Arial" pitchFamily="34" charset="-122"/>
                <a:cs typeface="Arial" pitchFamily="34" charset="-120"/>
              </a:rPr>
              <a:t>Runtime metadata</a:t>
            </a:r>
            <a:endParaRPr lang="en-US" sz="1300" dirty="0"/>
          </a:p>
        </p:txBody>
      </p:sp>
      <p:sp>
        <p:nvSpPr>
          <p:cNvPr id="23" name="Text 21"/>
          <p:cNvSpPr/>
          <p:nvPr/>
        </p:nvSpPr>
        <p:spPr>
          <a:xfrm>
            <a:off x="3657600" y="3730752"/>
            <a:ext cx="7772400" cy="694944"/>
          </a:xfrm>
          <a:prstGeom prst="rect">
            <a:avLst/>
          </a:prstGeom>
          <a:noFill/>
          <a:ln/>
        </p:spPr>
        <p:txBody>
          <a:bodyPr wrap="square" lIns="0" tIns="0" rIns="0" bIns="0" rtlCol="0" anchor="ctr"/>
          <a:lstStyle/>
          <a:p>
            <a:pPr indent="0" marL="0">
              <a:buNone/>
            </a:pPr>
            <a:r>
              <a:rPr lang="en-US" sz="1200" dirty="0">
                <a:solidFill>
                  <a:srgbClr val="5A6470"/>
                </a:solidFill>
                <a:latin typeface="Arial" pitchFamily="34" charset="0"/>
                <a:ea typeface="Arial" pitchFamily="34" charset="-122"/>
                <a:cs typeface="Arial" pitchFamily="34" charset="-120"/>
              </a:rPr>
              <a:t>The ConfigMap, workload labels and release-info.yaml overlap. Confirm the ConfigMap as authoritative and the rest as derived?</a:t>
            </a:r>
            <a:endParaRPr lang="en-US" sz="1200" dirty="0"/>
          </a:p>
        </p:txBody>
      </p:sp>
      <p:sp>
        <p:nvSpPr>
          <p:cNvPr id="24" name="Shape 22"/>
          <p:cNvSpPr/>
          <p:nvPr/>
        </p:nvSpPr>
        <p:spPr>
          <a:xfrm>
            <a:off x="548640" y="4517136"/>
            <a:ext cx="11091672" cy="694944"/>
          </a:xfrm>
          <a:prstGeom prst="roundRect">
            <a:avLst>
              <a:gd name="adj" fmla="val 6579"/>
            </a:avLst>
          </a:prstGeom>
          <a:solidFill>
            <a:srgbClr val="FFFFFF"/>
          </a:solidFill>
          <a:ln w="12700">
            <a:solidFill>
              <a:srgbClr val="D5DCE5"/>
            </a:solidFill>
            <a:prstDash val="solid"/>
          </a:ln>
        </p:spPr>
      </p:sp>
      <p:sp>
        <p:nvSpPr>
          <p:cNvPr id="25" name="Shape 23"/>
          <p:cNvSpPr/>
          <p:nvPr/>
        </p:nvSpPr>
        <p:spPr>
          <a:xfrm>
            <a:off x="777240" y="4709160"/>
            <a:ext cx="310896" cy="310896"/>
          </a:xfrm>
          <a:prstGeom prst="ellipse">
            <a:avLst/>
          </a:prstGeom>
          <a:solidFill>
            <a:srgbClr val="1F3A68"/>
          </a:solidFill>
          <a:ln w="12700">
            <a:solidFill>
              <a:srgbClr val="1F3A68"/>
            </a:solidFill>
            <a:prstDash val="solid"/>
          </a:ln>
        </p:spPr>
      </p:sp>
      <p:sp>
        <p:nvSpPr>
          <p:cNvPr id="26" name="Text 24"/>
          <p:cNvSpPr/>
          <p:nvPr/>
        </p:nvSpPr>
        <p:spPr>
          <a:xfrm>
            <a:off x="777240" y="47091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7" name="Text 25"/>
          <p:cNvSpPr/>
          <p:nvPr/>
        </p:nvSpPr>
        <p:spPr>
          <a:xfrm>
            <a:off x="1280160" y="4517136"/>
            <a:ext cx="2286000" cy="694944"/>
          </a:xfrm>
          <a:prstGeom prst="rect">
            <a:avLst/>
          </a:prstGeom>
          <a:noFill/>
          <a:ln/>
        </p:spPr>
        <p:txBody>
          <a:bodyPr wrap="square" lIns="0" tIns="0" rIns="0" bIns="0" rtlCol="0" anchor="ctr"/>
          <a:lstStyle/>
          <a:p>
            <a:pPr indent="0" marL="0">
              <a:buNone/>
            </a:pPr>
            <a:r>
              <a:rPr lang="en-US" sz="1300" b="1" dirty="0">
                <a:solidFill>
                  <a:srgbClr val="1F3A68"/>
                </a:solidFill>
                <a:latin typeface="Arial" pitchFamily="34" charset="0"/>
                <a:ea typeface="Arial" pitchFamily="34" charset="-122"/>
                <a:cs typeface="Arial" pitchFamily="34" charset="-120"/>
              </a:rPr>
              <a:t>Withdrawal</a:t>
            </a:r>
            <a:endParaRPr lang="en-US" sz="1300" dirty="0"/>
          </a:p>
        </p:txBody>
      </p:sp>
      <p:sp>
        <p:nvSpPr>
          <p:cNvPr id="28" name="Text 26"/>
          <p:cNvSpPr/>
          <p:nvPr/>
        </p:nvSpPr>
        <p:spPr>
          <a:xfrm>
            <a:off x="3657600" y="4517136"/>
            <a:ext cx="7772400" cy="694944"/>
          </a:xfrm>
          <a:prstGeom prst="rect">
            <a:avLst/>
          </a:prstGeom>
          <a:noFill/>
          <a:ln/>
        </p:spPr>
        <p:txBody>
          <a:bodyPr wrap="square" lIns="0" tIns="0" rIns="0" bIns="0" rtlCol="0" anchor="ctr"/>
          <a:lstStyle/>
          <a:p>
            <a:pPr indent="0" marL="0">
              <a:buNone/>
            </a:pPr>
            <a:r>
              <a:rPr lang="en-US" sz="1200" dirty="0">
                <a:solidFill>
                  <a:srgbClr val="5A6470"/>
                </a:solidFill>
                <a:latin typeface="Arial" pitchFamily="34" charset="0"/>
                <a:ea typeface="Arial" pitchFamily="34" charset="-122"/>
                <a:cs typeface="Arial" pitchFamily="34" charset="-120"/>
              </a:rPr>
              <a:t>What happens to sites already running a release that is later withdrawn — forced rollback, or flagged and left alone?</a:t>
            </a:r>
            <a:endParaRPr lang="en-US" sz="1200" dirty="0"/>
          </a:p>
        </p:txBody>
      </p:sp>
      <p:sp>
        <p:nvSpPr>
          <p:cNvPr id="29" name="Shape 27"/>
          <p:cNvSpPr/>
          <p:nvPr/>
        </p:nvSpPr>
        <p:spPr>
          <a:xfrm>
            <a:off x="548640" y="5303520"/>
            <a:ext cx="11091672" cy="694944"/>
          </a:xfrm>
          <a:prstGeom prst="roundRect">
            <a:avLst>
              <a:gd name="adj" fmla="val 6579"/>
            </a:avLst>
          </a:prstGeom>
          <a:solidFill>
            <a:srgbClr val="F2F4F7"/>
          </a:solidFill>
          <a:ln w="12700">
            <a:solidFill>
              <a:srgbClr val="D5DCE5"/>
            </a:solidFill>
            <a:prstDash val="solid"/>
          </a:ln>
        </p:spPr>
      </p:sp>
      <p:sp>
        <p:nvSpPr>
          <p:cNvPr id="30" name="Shape 28"/>
          <p:cNvSpPr/>
          <p:nvPr/>
        </p:nvSpPr>
        <p:spPr>
          <a:xfrm>
            <a:off x="777240" y="5495544"/>
            <a:ext cx="310896" cy="310896"/>
          </a:xfrm>
          <a:prstGeom prst="ellipse">
            <a:avLst/>
          </a:prstGeom>
          <a:solidFill>
            <a:srgbClr val="1F3A68"/>
          </a:solidFill>
          <a:ln w="12700">
            <a:solidFill>
              <a:srgbClr val="1F3A68"/>
            </a:solidFill>
            <a:prstDash val="solid"/>
          </a:ln>
        </p:spPr>
      </p:sp>
      <p:sp>
        <p:nvSpPr>
          <p:cNvPr id="31" name="Text 29"/>
          <p:cNvSpPr/>
          <p:nvPr/>
        </p:nvSpPr>
        <p:spPr>
          <a:xfrm>
            <a:off x="777240" y="549554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32" name="Text 30"/>
          <p:cNvSpPr/>
          <p:nvPr/>
        </p:nvSpPr>
        <p:spPr>
          <a:xfrm>
            <a:off x="1280160" y="5303520"/>
            <a:ext cx="2286000" cy="694944"/>
          </a:xfrm>
          <a:prstGeom prst="rect">
            <a:avLst/>
          </a:prstGeom>
          <a:noFill/>
          <a:ln/>
        </p:spPr>
        <p:txBody>
          <a:bodyPr wrap="square" lIns="0" tIns="0" rIns="0" bIns="0" rtlCol="0" anchor="ctr"/>
          <a:lstStyle/>
          <a:p>
            <a:pPr indent="0" marL="0">
              <a:buNone/>
            </a:pPr>
            <a:r>
              <a:rPr lang="en-US" sz="1300" b="1" dirty="0">
                <a:solidFill>
                  <a:srgbClr val="1F3A68"/>
                </a:solidFill>
                <a:latin typeface="Arial" pitchFamily="34" charset="0"/>
                <a:ea typeface="Arial" pitchFamily="34" charset="-122"/>
                <a:cs typeface="Arial" pitchFamily="34" charset="-120"/>
              </a:rPr>
              <a:t>Retention</a:t>
            </a:r>
            <a:endParaRPr lang="en-US" sz="1300" dirty="0"/>
          </a:p>
        </p:txBody>
      </p:sp>
      <p:sp>
        <p:nvSpPr>
          <p:cNvPr id="33" name="Text 31"/>
          <p:cNvSpPr/>
          <p:nvPr/>
        </p:nvSpPr>
        <p:spPr>
          <a:xfrm>
            <a:off x="3657600" y="5303520"/>
            <a:ext cx="7772400" cy="694944"/>
          </a:xfrm>
          <a:prstGeom prst="rect">
            <a:avLst/>
          </a:prstGeom>
          <a:noFill/>
          <a:ln/>
        </p:spPr>
        <p:txBody>
          <a:bodyPr wrap="square" lIns="0" tIns="0" rIns="0" bIns="0" rtlCol="0" anchor="ctr"/>
          <a:lstStyle/>
          <a:p>
            <a:pPr indent="0" marL="0">
              <a:buNone/>
            </a:pPr>
            <a:r>
              <a:rPr lang="en-US" sz="1200" dirty="0">
                <a:solidFill>
                  <a:srgbClr val="5A6470"/>
                </a:solidFill>
                <a:latin typeface="Arial" pitchFamily="34" charset="0"/>
                <a:ea typeface="Arial" pitchFamily="34" charset="-122"/>
                <a:cs typeface="Arial" pitchFamily="34" charset="-120"/>
              </a:rPr>
              <a:t>Manifests and tags are kept indefinitely. What retention applies to the images they reference?</a:t>
            </a:r>
            <a:endParaRPr lang="en-US" sz="1200" dirty="0"/>
          </a:p>
        </p:txBody>
      </p:sp>
      <p:sp>
        <p:nvSpPr>
          <p:cNvPr id="34" name="Shape 32"/>
          <p:cNvSpPr/>
          <p:nvPr/>
        </p:nvSpPr>
        <p:spPr>
          <a:xfrm>
            <a:off x="548640" y="6172200"/>
            <a:ext cx="11091672" cy="457200"/>
          </a:xfrm>
          <a:prstGeom prst="roundRect">
            <a:avLst>
              <a:gd name="adj" fmla="val 10000"/>
            </a:avLst>
          </a:prstGeom>
          <a:solidFill>
            <a:srgbClr val="1F3A68"/>
          </a:solidFill>
          <a:ln w="12700">
            <a:solidFill>
              <a:srgbClr val="1F3A68"/>
            </a:solidFill>
            <a:prstDash val="solid"/>
          </a:ln>
        </p:spPr>
      </p:sp>
      <p:sp>
        <p:nvSpPr>
          <p:cNvPr id="35" name="Text 33"/>
          <p:cNvSpPr/>
          <p:nvPr/>
        </p:nvSpPr>
        <p:spPr>
          <a:xfrm>
            <a:off x="822960" y="6172200"/>
            <a:ext cx="10607040" cy="45720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Next: close these six, update the diagram, then implement in order of cost — digest pinning and protected branches first.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2026-09-15T21:13:13Z</dcterms:created>
  <dcterms:modified xsi:type="dcterms:W3CDTF">2026-09-15T21:13:13Z</dcterms:modified>
</cp:coreProperties>
</file>